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1" r:id="rId6"/>
    <p:sldId id="260"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34"/>
    <p:restoredTop sz="94628"/>
  </p:normalViewPr>
  <p:slideViewPr>
    <p:cSldViewPr snapToGrid="0">
      <p:cViewPr varScale="1">
        <p:scale>
          <a:sx n="114" d="100"/>
          <a:sy n="114" d="100"/>
        </p:scale>
        <p:origin x="66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E37F1A-7FF7-E743-874D-7C3061832D3B}" type="datetimeFigureOut">
              <a:rPr lang="en-US" smtClean="0"/>
              <a:t>11/18/25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B01792-F0BF-C948-A583-4D1A302056B5}" type="slidenum">
              <a:rPr lang="en-US" smtClean="0"/>
              <a:t>‹#›</a:t>
            </a:fld>
            <a:endParaRPr lang="en-US"/>
          </a:p>
        </p:txBody>
      </p:sp>
    </p:spTree>
    <p:extLst>
      <p:ext uri="{BB962C8B-B14F-4D97-AF65-F5344CB8AC3E}">
        <p14:creationId xmlns:p14="http://schemas.microsoft.com/office/powerpoint/2010/main" val="33028654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B01792-F0BF-C948-A583-4D1A302056B5}" type="slidenum">
              <a:rPr lang="en-US" smtClean="0"/>
              <a:t>4</a:t>
            </a:fld>
            <a:endParaRPr lang="en-US"/>
          </a:p>
        </p:txBody>
      </p:sp>
    </p:spTree>
    <p:extLst>
      <p:ext uri="{BB962C8B-B14F-4D97-AF65-F5344CB8AC3E}">
        <p14:creationId xmlns:p14="http://schemas.microsoft.com/office/powerpoint/2010/main" val="9760485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3B01792-F0BF-C948-A583-4D1A302056B5}" type="slidenum">
              <a:rPr lang="en-US" smtClean="0"/>
              <a:t>9</a:t>
            </a:fld>
            <a:endParaRPr lang="en-US"/>
          </a:p>
        </p:txBody>
      </p:sp>
    </p:spTree>
    <p:extLst>
      <p:ext uri="{BB962C8B-B14F-4D97-AF65-F5344CB8AC3E}">
        <p14:creationId xmlns:p14="http://schemas.microsoft.com/office/powerpoint/2010/main" val="25882402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16D57-02CE-8FA9-8882-2220E21D601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32DBF051-588B-0E19-B81C-7AFC35EE60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EBB35788-0942-E25F-D4CD-5B5131660DA3}"/>
              </a:ext>
            </a:extLst>
          </p:cNvPr>
          <p:cNvSpPr>
            <a:spLocks noGrp="1"/>
          </p:cNvSpPr>
          <p:nvPr>
            <p:ph type="dt" sz="half" idx="10"/>
          </p:nvPr>
        </p:nvSpPr>
        <p:spPr/>
        <p:txBody>
          <a:bodyPr/>
          <a:lstStyle/>
          <a:p>
            <a:fld id="{46D95894-B387-F748-A2F3-6E65C2DBE42F}" type="datetimeFigureOut">
              <a:rPr lang="en-US" smtClean="0"/>
              <a:t>11/18/25</a:t>
            </a:fld>
            <a:endParaRPr lang="en-US"/>
          </a:p>
        </p:txBody>
      </p:sp>
      <p:sp>
        <p:nvSpPr>
          <p:cNvPr id="5" name="Footer Placeholder 4">
            <a:extLst>
              <a:ext uri="{FF2B5EF4-FFF2-40B4-BE49-F238E27FC236}">
                <a16:creationId xmlns:a16="http://schemas.microsoft.com/office/drawing/2014/main" id="{842F0D03-A395-FDC7-D130-54120D7B33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4DFE4C-DB1E-809C-86F7-0BB5FAA52F33}"/>
              </a:ext>
            </a:extLst>
          </p:cNvPr>
          <p:cNvSpPr>
            <a:spLocks noGrp="1"/>
          </p:cNvSpPr>
          <p:nvPr>
            <p:ph type="sldNum" sz="quarter" idx="12"/>
          </p:nvPr>
        </p:nvSpPr>
        <p:spPr/>
        <p:txBody>
          <a:bodyPr/>
          <a:lstStyle/>
          <a:p>
            <a:fld id="{96C298C7-867C-C841-B0B6-8E36C9570C67}" type="slidenum">
              <a:rPr lang="en-US" smtClean="0"/>
              <a:t>‹#›</a:t>
            </a:fld>
            <a:endParaRPr lang="en-US"/>
          </a:p>
        </p:txBody>
      </p:sp>
    </p:spTree>
    <p:extLst>
      <p:ext uri="{BB962C8B-B14F-4D97-AF65-F5344CB8AC3E}">
        <p14:creationId xmlns:p14="http://schemas.microsoft.com/office/powerpoint/2010/main" val="17217125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7D014-1E7F-4BDC-C8F1-F4EB113DD20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F43627E-6F19-3C03-8713-22229A764B1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2FDEA29-A5E3-F000-D6CD-6E6FDE260577}"/>
              </a:ext>
            </a:extLst>
          </p:cNvPr>
          <p:cNvSpPr>
            <a:spLocks noGrp="1"/>
          </p:cNvSpPr>
          <p:nvPr>
            <p:ph type="dt" sz="half" idx="10"/>
          </p:nvPr>
        </p:nvSpPr>
        <p:spPr/>
        <p:txBody>
          <a:bodyPr/>
          <a:lstStyle/>
          <a:p>
            <a:fld id="{46D95894-B387-F748-A2F3-6E65C2DBE42F}" type="datetimeFigureOut">
              <a:rPr lang="en-US" smtClean="0"/>
              <a:t>11/18/25</a:t>
            </a:fld>
            <a:endParaRPr lang="en-US"/>
          </a:p>
        </p:txBody>
      </p:sp>
      <p:sp>
        <p:nvSpPr>
          <p:cNvPr id="5" name="Footer Placeholder 4">
            <a:extLst>
              <a:ext uri="{FF2B5EF4-FFF2-40B4-BE49-F238E27FC236}">
                <a16:creationId xmlns:a16="http://schemas.microsoft.com/office/drawing/2014/main" id="{D3C7FA3D-4C32-4C3B-6031-A5BB06322E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6FE7C6-0978-6233-EEB8-65EF304951D3}"/>
              </a:ext>
            </a:extLst>
          </p:cNvPr>
          <p:cNvSpPr>
            <a:spLocks noGrp="1"/>
          </p:cNvSpPr>
          <p:nvPr>
            <p:ph type="sldNum" sz="quarter" idx="12"/>
          </p:nvPr>
        </p:nvSpPr>
        <p:spPr/>
        <p:txBody>
          <a:bodyPr/>
          <a:lstStyle/>
          <a:p>
            <a:fld id="{96C298C7-867C-C841-B0B6-8E36C9570C67}" type="slidenum">
              <a:rPr lang="en-US" smtClean="0"/>
              <a:t>‹#›</a:t>
            </a:fld>
            <a:endParaRPr lang="en-US"/>
          </a:p>
        </p:txBody>
      </p:sp>
    </p:spTree>
    <p:extLst>
      <p:ext uri="{BB962C8B-B14F-4D97-AF65-F5344CB8AC3E}">
        <p14:creationId xmlns:p14="http://schemas.microsoft.com/office/powerpoint/2010/main" val="41543872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C7435-846F-1D16-4399-EF3E54ADDEFD}"/>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4AAE4EFA-4FE3-FCF7-7B09-38C6C1FA5E8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4F52B852-5F9C-75EF-8F72-7A124A45DFF2}"/>
              </a:ext>
            </a:extLst>
          </p:cNvPr>
          <p:cNvSpPr>
            <a:spLocks noGrp="1"/>
          </p:cNvSpPr>
          <p:nvPr>
            <p:ph type="dt" sz="half" idx="10"/>
          </p:nvPr>
        </p:nvSpPr>
        <p:spPr/>
        <p:txBody>
          <a:bodyPr/>
          <a:lstStyle/>
          <a:p>
            <a:fld id="{46D95894-B387-F748-A2F3-6E65C2DBE42F}" type="datetimeFigureOut">
              <a:rPr lang="en-US" smtClean="0"/>
              <a:t>11/18/25</a:t>
            </a:fld>
            <a:endParaRPr lang="en-US"/>
          </a:p>
        </p:txBody>
      </p:sp>
      <p:sp>
        <p:nvSpPr>
          <p:cNvPr id="5" name="Footer Placeholder 4">
            <a:extLst>
              <a:ext uri="{FF2B5EF4-FFF2-40B4-BE49-F238E27FC236}">
                <a16:creationId xmlns:a16="http://schemas.microsoft.com/office/drawing/2014/main" id="{9363A3F5-8E3B-EB03-4176-C1B3BE4373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9C2E3C-3556-0177-82C5-739A77C8BB91}"/>
              </a:ext>
            </a:extLst>
          </p:cNvPr>
          <p:cNvSpPr>
            <a:spLocks noGrp="1"/>
          </p:cNvSpPr>
          <p:nvPr>
            <p:ph type="sldNum" sz="quarter" idx="12"/>
          </p:nvPr>
        </p:nvSpPr>
        <p:spPr/>
        <p:txBody>
          <a:bodyPr/>
          <a:lstStyle/>
          <a:p>
            <a:fld id="{96C298C7-867C-C841-B0B6-8E36C9570C67}" type="slidenum">
              <a:rPr lang="en-US" smtClean="0"/>
              <a:t>‹#›</a:t>
            </a:fld>
            <a:endParaRPr lang="en-US"/>
          </a:p>
        </p:txBody>
      </p:sp>
    </p:spTree>
    <p:extLst>
      <p:ext uri="{BB962C8B-B14F-4D97-AF65-F5344CB8AC3E}">
        <p14:creationId xmlns:p14="http://schemas.microsoft.com/office/powerpoint/2010/main" val="2682388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3D1999-19AF-36A8-A977-83A73D746B6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5A44C6E-D003-1AED-D708-FF214AFA00C9}"/>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69C33058-704A-D7ED-C0B0-7C0FD551A790}"/>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FB8EB3D-CE50-EA14-FFD5-59DF36867E83}"/>
              </a:ext>
            </a:extLst>
          </p:cNvPr>
          <p:cNvSpPr>
            <a:spLocks noGrp="1"/>
          </p:cNvSpPr>
          <p:nvPr>
            <p:ph type="dt" sz="half" idx="10"/>
          </p:nvPr>
        </p:nvSpPr>
        <p:spPr/>
        <p:txBody>
          <a:bodyPr/>
          <a:lstStyle/>
          <a:p>
            <a:fld id="{46D95894-B387-F748-A2F3-6E65C2DBE42F}" type="datetimeFigureOut">
              <a:rPr lang="en-US" smtClean="0"/>
              <a:t>11/18/25</a:t>
            </a:fld>
            <a:endParaRPr lang="en-US"/>
          </a:p>
        </p:txBody>
      </p:sp>
      <p:sp>
        <p:nvSpPr>
          <p:cNvPr id="6" name="Footer Placeholder 5">
            <a:extLst>
              <a:ext uri="{FF2B5EF4-FFF2-40B4-BE49-F238E27FC236}">
                <a16:creationId xmlns:a16="http://schemas.microsoft.com/office/drawing/2014/main" id="{9151A49E-0BEC-59AB-9100-797E08CAF9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C4E09A-5054-3EB5-E5DA-C67D703E7396}"/>
              </a:ext>
            </a:extLst>
          </p:cNvPr>
          <p:cNvSpPr>
            <a:spLocks noGrp="1"/>
          </p:cNvSpPr>
          <p:nvPr>
            <p:ph type="sldNum" sz="quarter" idx="12"/>
          </p:nvPr>
        </p:nvSpPr>
        <p:spPr/>
        <p:txBody>
          <a:bodyPr/>
          <a:lstStyle/>
          <a:p>
            <a:fld id="{96C298C7-867C-C841-B0B6-8E36C9570C67}" type="slidenum">
              <a:rPr lang="en-US" smtClean="0"/>
              <a:t>‹#›</a:t>
            </a:fld>
            <a:endParaRPr lang="en-US"/>
          </a:p>
        </p:txBody>
      </p:sp>
    </p:spTree>
    <p:extLst>
      <p:ext uri="{BB962C8B-B14F-4D97-AF65-F5344CB8AC3E}">
        <p14:creationId xmlns:p14="http://schemas.microsoft.com/office/powerpoint/2010/main" val="4175749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21DEA-BB66-482D-0910-16B2CF1D0107}"/>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6E7DAFEF-B199-A349-A321-CCCBEF48CF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898F005-F6E2-74A8-17AE-3F356A3C75F7}"/>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A6FD62FF-83E1-5AA0-A4BC-58550577F07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9D0036B-5F6F-56B1-2D4F-29FEA76D63F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751ED5F0-6AD6-41B1-6CCC-3857ABDD6BD7}"/>
              </a:ext>
            </a:extLst>
          </p:cNvPr>
          <p:cNvSpPr>
            <a:spLocks noGrp="1"/>
          </p:cNvSpPr>
          <p:nvPr>
            <p:ph type="dt" sz="half" idx="10"/>
          </p:nvPr>
        </p:nvSpPr>
        <p:spPr/>
        <p:txBody>
          <a:bodyPr/>
          <a:lstStyle/>
          <a:p>
            <a:fld id="{46D95894-B387-F748-A2F3-6E65C2DBE42F}" type="datetimeFigureOut">
              <a:rPr lang="en-US" smtClean="0"/>
              <a:t>11/18/25</a:t>
            </a:fld>
            <a:endParaRPr lang="en-US"/>
          </a:p>
        </p:txBody>
      </p:sp>
      <p:sp>
        <p:nvSpPr>
          <p:cNvPr id="8" name="Footer Placeholder 7">
            <a:extLst>
              <a:ext uri="{FF2B5EF4-FFF2-40B4-BE49-F238E27FC236}">
                <a16:creationId xmlns:a16="http://schemas.microsoft.com/office/drawing/2014/main" id="{B153781C-0EF8-1F8A-161F-7B517EBCF36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A80C252-63C7-E5A6-AFC8-865D0BCE3EE1}"/>
              </a:ext>
            </a:extLst>
          </p:cNvPr>
          <p:cNvSpPr>
            <a:spLocks noGrp="1"/>
          </p:cNvSpPr>
          <p:nvPr>
            <p:ph type="sldNum" sz="quarter" idx="12"/>
          </p:nvPr>
        </p:nvSpPr>
        <p:spPr/>
        <p:txBody>
          <a:bodyPr/>
          <a:lstStyle/>
          <a:p>
            <a:fld id="{96C298C7-867C-C841-B0B6-8E36C9570C67}" type="slidenum">
              <a:rPr lang="en-US" smtClean="0"/>
              <a:t>‹#›</a:t>
            </a:fld>
            <a:endParaRPr lang="en-US"/>
          </a:p>
        </p:txBody>
      </p:sp>
    </p:spTree>
    <p:extLst>
      <p:ext uri="{BB962C8B-B14F-4D97-AF65-F5344CB8AC3E}">
        <p14:creationId xmlns:p14="http://schemas.microsoft.com/office/powerpoint/2010/main" val="14590293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1E840-EF66-ABFF-A25E-40FB8D976288}"/>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8238AB67-8B7B-279B-ECCC-26C4765419AE}"/>
              </a:ext>
            </a:extLst>
          </p:cNvPr>
          <p:cNvSpPr>
            <a:spLocks noGrp="1"/>
          </p:cNvSpPr>
          <p:nvPr>
            <p:ph type="dt" sz="half" idx="10"/>
          </p:nvPr>
        </p:nvSpPr>
        <p:spPr/>
        <p:txBody>
          <a:bodyPr/>
          <a:lstStyle/>
          <a:p>
            <a:fld id="{46D95894-B387-F748-A2F3-6E65C2DBE42F}" type="datetimeFigureOut">
              <a:rPr lang="en-US" smtClean="0"/>
              <a:t>11/18/25</a:t>
            </a:fld>
            <a:endParaRPr lang="en-US"/>
          </a:p>
        </p:txBody>
      </p:sp>
      <p:sp>
        <p:nvSpPr>
          <p:cNvPr id="4" name="Footer Placeholder 3">
            <a:extLst>
              <a:ext uri="{FF2B5EF4-FFF2-40B4-BE49-F238E27FC236}">
                <a16:creationId xmlns:a16="http://schemas.microsoft.com/office/drawing/2014/main" id="{7AF104F5-ABD1-D32F-507A-ABF44DB8087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D9AC21C-1E1C-E0AB-F672-00BFF081E3F0}"/>
              </a:ext>
            </a:extLst>
          </p:cNvPr>
          <p:cNvSpPr>
            <a:spLocks noGrp="1"/>
          </p:cNvSpPr>
          <p:nvPr>
            <p:ph type="sldNum" sz="quarter" idx="12"/>
          </p:nvPr>
        </p:nvSpPr>
        <p:spPr/>
        <p:txBody>
          <a:bodyPr/>
          <a:lstStyle/>
          <a:p>
            <a:fld id="{96C298C7-867C-C841-B0B6-8E36C9570C67}" type="slidenum">
              <a:rPr lang="en-US" smtClean="0"/>
              <a:t>‹#›</a:t>
            </a:fld>
            <a:endParaRPr lang="en-US"/>
          </a:p>
        </p:txBody>
      </p:sp>
    </p:spTree>
    <p:extLst>
      <p:ext uri="{BB962C8B-B14F-4D97-AF65-F5344CB8AC3E}">
        <p14:creationId xmlns:p14="http://schemas.microsoft.com/office/powerpoint/2010/main" val="16930210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771EDC9-9A18-36E7-B7FA-21C23ACFFDF4}"/>
              </a:ext>
            </a:extLst>
          </p:cNvPr>
          <p:cNvSpPr>
            <a:spLocks noGrp="1"/>
          </p:cNvSpPr>
          <p:nvPr>
            <p:ph type="dt" sz="half" idx="10"/>
          </p:nvPr>
        </p:nvSpPr>
        <p:spPr/>
        <p:txBody>
          <a:bodyPr/>
          <a:lstStyle/>
          <a:p>
            <a:fld id="{46D95894-B387-F748-A2F3-6E65C2DBE42F}" type="datetimeFigureOut">
              <a:rPr lang="en-US" smtClean="0"/>
              <a:t>11/18/25</a:t>
            </a:fld>
            <a:endParaRPr lang="en-US"/>
          </a:p>
        </p:txBody>
      </p:sp>
      <p:sp>
        <p:nvSpPr>
          <p:cNvPr id="3" name="Footer Placeholder 2">
            <a:extLst>
              <a:ext uri="{FF2B5EF4-FFF2-40B4-BE49-F238E27FC236}">
                <a16:creationId xmlns:a16="http://schemas.microsoft.com/office/drawing/2014/main" id="{D196C7E3-6857-D60B-D0FA-9F4218AD9D5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CAAEC30-E4DC-44C1-1EB5-A065E561D9A9}"/>
              </a:ext>
            </a:extLst>
          </p:cNvPr>
          <p:cNvSpPr>
            <a:spLocks noGrp="1"/>
          </p:cNvSpPr>
          <p:nvPr>
            <p:ph type="sldNum" sz="quarter" idx="12"/>
          </p:nvPr>
        </p:nvSpPr>
        <p:spPr/>
        <p:txBody>
          <a:bodyPr/>
          <a:lstStyle/>
          <a:p>
            <a:fld id="{96C298C7-867C-C841-B0B6-8E36C9570C67}" type="slidenum">
              <a:rPr lang="en-US" smtClean="0"/>
              <a:t>‹#›</a:t>
            </a:fld>
            <a:endParaRPr lang="en-US"/>
          </a:p>
        </p:txBody>
      </p:sp>
    </p:spTree>
    <p:extLst>
      <p:ext uri="{BB962C8B-B14F-4D97-AF65-F5344CB8AC3E}">
        <p14:creationId xmlns:p14="http://schemas.microsoft.com/office/powerpoint/2010/main" val="36934057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B6FD4-6EA9-BE8D-84E9-6CB2E68D263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CA62C932-85E8-4266-5E64-B51D86DB0D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B5FCC3F9-3E4E-999B-08A6-AE5294EE1E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5783D5F-C348-4B4D-EB2A-4F1F1C2DB450}"/>
              </a:ext>
            </a:extLst>
          </p:cNvPr>
          <p:cNvSpPr>
            <a:spLocks noGrp="1"/>
          </p:cNvSpPr>
          <p:nvPr>
            <p:ph type="dt" sz="half" idx="10"/>
          </p:nvPr>
        </p:nvSpPr>
        <p:spPr/>
        <p:txBody>
          <a:bodyPr/>
          <a:lstStyle/>
          <a:p>
            <a:fld id="{46D95894-B387-F748-A2F3-6E65C2DBE42F}" type="datetimeFigureOut">
              <a:rPr lang="en-US" smtClean="0"/>
              <a:t>11/18/25</a:t>
            </a:fld>
            <a:endParaRPr lang="en-US"/>
          </a:p>
        </p:txBody>
      </p:sp>
      <p:sp>
        <p:nvSpPr>
          <p:cNvPr id="6" name="Footer Placeholder 5">
            <a:extLst>
              <a:ext uri="{FF2B5EF4-FFF2-40B4-BE49-F238E27FC236}">
                <a16:creationId xmlns:a16="http://schemas.microsoft.com/office/drawing/2014/main" id="{D66C5685-BCF6-0F06-7AEA-A67F5F2EF55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C6CFBA-C4FA-7D6D-90E2-70E3462DDE2B}"/>
              </a:ext>
            </a:extLst>
          </p:cNvPr>
          <p:cNvSpPr>
            <a:spLocks noGrp="1"/>
          </p:cNvSpPr>
          <p:nvPr>
            <p:ph type="sldNum" sz="quarter" idx="12"/>
          </p:nvPr>
        </p:nvSpPr>
        <p:spPr/>
        <p:txBody>
          <a:bodyPr/>
          <a:lstStyle/>
          <a:p>
            <a:fld id="{96C298C7-867C-C841-B0B6-8E36C9570C67}" type="slidenum">
              <a:rPr lang="en-US" smtClean="0"/>
              <a:t>‹#›</a:t>
            </a:fld>
            <a:endParaRPr lang="en-US"/>
          </a:p>
        </p:txBody>
      </p:sp>
    </p:spTree>
    <p:extLst>
      <p:ext uri="{BB962C8B-B14F-4D97-AF65-F5344CB8AC3E}">
        <p14:creationId xmlns:p14="http://schemas.microsoft.com/office/powerpoint/2010/main" val="31328321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C080D-5A67-45DC-35FF-A203FB7CC13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5AFE83FC-BA75-AF41-F4CA-1678997B05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0EC203F-09B9-F81E-E541-4CD2EF5E2E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7BFC343-E06D-62CB-20D9-6D247D50D46F}"/>
              </a:ext>
            </a:extLst>
          </p:cNvPr>
          <p:cNvSpPr>
            <a:spLocks noGrp="1"/>
          </p:cNvSpPr>
          <p:nvPr>
            <p:ph type="dt" sz="half" idx="10"/>
          </p:nvPr>
        </p:nvSpPr>
        <p:spPr/>
        <p:txBody>
          <a:bodyPr/>
          <a:lstStyle/>
          <a:p>
            <a:fld id="{46D95894-B387-F748-A2F3-6E65C2DBE42F}" type="datetimeFigureOut">
              <a:rPr lang="en-US" smtClean="0"/>
              <a:t>11/18/25</a:t>
            </a:fld>
            <a:endParaRPr lang="en-US"/>
          </a:p>
        </p:txBody>
      </p:sp>
      <p:sp>
        <p:nvSpPr>
          <p:cNvPr id="6" name="Footer Placeholder 5">
            <a:extLst>
              <a:ext uri="{FF2B5EF4-FFF2-40B4-BE49-F238E27FC236}">
                <a16:creationId xmlns:a16="http://schemas.microsoft.com/office/drawing/2014/main" id="{CF6F187C-C337-C31B-9680-4266C97587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3B8344-BF79-BAD0-622F-69AD6C425939}"/>
              </a:ext>
            </a:extLst>
          </p:cNvPr>
          <p:cNvSpPr>
            <a:spLocks noGrp="1"/>
          </p:cNvSpPr>
          <p:nvPr>
            <p:ph type="sldNum" sz="quarter" idx="12"/>
          </p:nvPr>
        </p:nvSpPr>
        <p:spPr/>
        <p:txBody>
          <a:bodyPr/>
          <a:lstStyle/>
          <a:p>
            <a:fld id="{96C298C7-867C-C841-B0B6-8E36C9570C67}" type="slidenum">
              <a:rPr lang="en-US" smtClean="0"/>
              <a:t>‹#›</a:t>
            </a:fld>
            <a:endParaRPr lang="en-US"/>
          </a:p>
        </p:txBody>
      </p:sp>
    </p:spTree>
    <p:extLst>
      <p:ext uri="{BB962C8B-B14F-4D97-AF65-F5344CB8AC3E}">
        <p14:creationId xmlns:p14="http://schemas.microsoft.com/office/powerpoint/2010/main" val="18158594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D6B01-24EA-FBEA-7B90-260551E54006}"/>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4CF59C3-E56F-D2A1-7A0C-771C80BCDCD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77B31C1-B5A5-068F-EE07-E6A4443DCB78}"/>
              </a:ext>
            </a:extLst>
          </p:cNvPr>
          <p:cNvSpPr>
            <a:spLocks noGrp="1"/>
          </p:cNvSpPr>
          <p:nvPr>
            <p:ph type="dt" sz="half" idx="10"/>
          </p:nvPr>
        </p:nvSpPr>
        <p:spPr/>
        <p:txBody>
          <a:bodyPr/>
          <a:lstStyle/>
          <a:p>
            <a:fld id="{46D95894-B387-F748-A2F3-6E65C2DBE42F}" type="datetimeFigureOut">
              <a:rPr lang="en-US" smtClean="0"/>
              <a:t>11/18/25</a:t>
            </a:fld>
            <a:endParaRPr lang="en-US"/>
          </a:p>
        </p:txBody>
      </p:sp>
      <p:sp>
        <p:nvSpPr>
          <p:cNvPr id="5" name="Footer Placeholder 4">
            <a:extLst>
              <a:ext uri="{FF2B5EF4-FFF2-40B4-BE49-F238E27FC236}">
                <a16:creationId xmlns:a16="http://schemas.microsoft.com/office/drawing/2014/main" id="{B485A60B-D613-1001-9EA1-701F3B58E1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6A6DF6-2519-20DF-6763-30E0199EB992}"/>
              </a:ext>
            </a:extLst>
          </p:cNvPr>
          <p:cNvSpPr>
            <a:spLocks noGrp="1"/>
          </p:cNvSpPr>
          <p:nvPr>
            <p:ph type="sldNum" sz="quarter" idx="12"/>
          </p:nvPr>
        </p:nvSpPr>
        <p:spPr/>
        <p:txBody>
          <a:bodyPr/>
          <a:lstStyle/>
          <a:p>
            <a:fld id="{96C298C7-867C-C841-B0B6-8E36C9570C67}" type="slidenum">
              <a:rPr lang="en-US" smtClean="0"/>
              <a:t>‹#›</a:t>
            </a:fld>
            <a:endParaRPr lang="en-US"/>
          </a:p>
        </p:txBody>
      </p:sp>
    </p:spTree>
    <p:extLst>
      <p:ext uri="{BB962C8B-B14F-4D97-AF65-F5344CB8AC3E}">
        <p14:creationId xmlns:p14="http://schemas.microsoft.com/office/powerpoint/2010/main" val="41276569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4306DA-4DB3-A0A3-BD40-7ABD83A015D0}"/>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1E981403-3512-61A6-8DE8-E6137E7E9EF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D5DB948-8546-06E5-3804-8A138D2735FB}"/>
              </a:ext>
            </a:extLst>
          </p:cNvPr>
          <p:cNvSpPr>
            <a:spLocks noGrp="1"/>
          </p:cNvSpPr>
          <p:nvPr>
            <p:ph type="dt" sz="half" idx="10"/>
          </p:nvPr>
        </p:nvSpPr>
        <p:spPr/>
        <p:txBody>
          <a:bodyPr/>
          <a:lstStyle/>
          <a:p>
            <a:fld id="{46D95894-B387-F748-A2F3-6E65C2DBE42F}" type="datetimeFigureOut">
              <a:rPr lang="en-US" smtClean="0"/>
              <a:t>11/18/25</a:t>
            </a:fld>
            <a:endParaRPr lang="en-US"/>
          </a:p>
        </p:txBody>
      </p:sp>
      <p:sp>
        <p:nvSpPr>
          <p:cNvPr id="5" name="Footer Placeholder 4">
            <a:extLst>
              <a:ext uri="{FF2B5EF4-FFF2-40B4-BE49-F238E27FC236}">
                <a16:creationId xmlns:a16="http://schemas.microsoft.com/office/drawing/2014/main" id="{9491AC06-2FCC-25BB-A600-E7AD0B3D7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ED29E5-4E01-89F6-6607-923608CB1C0A}"/>
              </a:ext>
            </a:extLst>
          </p:cNvPr>
          <p:cNvSpPr>
            <a:spLocks noGrp="1"/>
          </p:cNvSpPr>
          <p:nvPr>
            <p:ph type="sldNum" sz="quarter" idx="12"/>
          </p:nvPr>
        </p:nvSpPr>
        <p:spPr/>
        <p:txBody>
          <a:bodyPr/>
          <a:lstStyle/>
          <a:p>
            <a:fld id="{96C298C7-867C-C841-B0B6-8E36C9570C67}" type="slidenum">
              <a:rPr lang="en-US" smtClean="0"/>
              <a:t>‹#›</a:t>
            </a:fld>
            <a:endParaRPr lang="en-US"/>
          </a:p>
        </p:txBody>
      </p:sp>
    </p:spTree>
    <p:extLst>
      <p:ext uri="{BB962C8B-B14F-4D97-AF65-F5344CB8AC3E}">
        <p14:creationId xmlns:p14="http://schemas.microsoft.com/office/powerpoint/2010/main" val="2691586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1F54AFF-E7F9-0C5D-BF0D-56EED6909B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BBD2FF8-9351-57A6-F5C9-4D9C7200E73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E519236-5016-4434-71B2-B879D0C8F0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6D95894-B387-F748-A2F3-6E65C2DBE42F}" type="datetimeFigureOut">
              <a:rPr lang="en-US" smtClean="0"/>
              <a:t>11/18/25</a:t>
            </a:fld>
            <a:endParaRPr lang="en-US"/>
          </a:p>
        </p:txBody>
      </p:sp>
      <p:sp>
        <p:nvSpPr>
          <p:cNvPr id="5" name="Footer Placeholder 4">
            <a:extLst>
              <a:ext uri="{FF2B5EF4-FFF2-40B4-BE49-F238E27FC236}">
                <a16:creationId xmlns:a16="http://schemas.microsoft.com/office/drawing/2014/main" id="{C7CD7796-05C2-EBE1-D0A4-56472BE6B5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1AACF05-F093-F3FB-914E-BD6A726D6D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6C298C7-867C-C841-B0B6-8E36C9570C67}" type="slidenum">
              <a:rPr lang="en-US" smtClean="0"/>
              <a:t>‹#›</a:t>
            </a:fld>
            <a:endParaRPr lang="en-US"/>
          </a:p>
        </p:txBody>
      </p:sp>
    </p:spTree>
    <p:extLst>
      <p:ext uri="{BB962C8B-B14F-4D97-AF65-F5344CB8AC3E}">
        <p14:creationId xmlns:p14="http://schemas.microsoft.com/office/powerpoint/2010/main" val="10392274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8" name="Rectangle 247">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 name="Rectangle 249">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 name="Rectangle 251">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 name="Rectangle 253">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 name="Oval 255">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F06AE99-635A-4CFF-B159-964FFFAA175E}"/>
              </a:ext>
            </a:extLst>
          </p:cNvPr>
          <p:cNvSpPr>
            <a:spLocks noGrp="1"/>
          </p:cNvSpPr>
          <p:nvPr>
            <p:ph type="ctrTitle"/>
          </p:nvPr>
        </p:nvSpPr>
        <p:spPr>
          <a:xfrm>
            <a:off x="1386865" y="818984"/>
            <a:ext cx="6596245" cy="3268520"/>
          </a:xfrm>
        </p:spPr>
        <p:txBody>
          <a:bodyPr>
            <a:normAutofit/>
          </a:bodyPr>
          <a:lstStyle/>
          <a:p>
            <a:pPr algn="r"/>
            <a:r>
              <a:rPr lang="en-IN" sz="4800">
                <a:solidFill>
                  <a:srgbClr val="FFFFFF"/>
                </a:solidFill>
              </a:rPr>
              <a:t>Automating Regulatory → Internal Requirement Mapping</a:t>
            </a:r>
            <a:endParaRPr lang="en-US" sz="4800">
              <a:solidFill>
                <a:srgbClr val="FFFFFF"/>
              </a:solidFill>
            </a:endParaRPr>
          </a:p>
        </p:txBody>
      </p:sp>
      <p:sp>
        <p:nvSpPr>
          <p:cNvPr id="258" name="Rectangle 257">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DE469BEF-9DA0-90F2-DDA5-6055F7D3BE63}"/>
              </a:ext>
            </a:extLst>
          </p:cNvPr>
          <p:cNvSpPr>
            <a:spLocks noGrp="1"/>
          </p:cNvSpPr>
          <p:nvPr>
            <p:ph type="subTitle" idx="1"/>
          </p:nvPr>
        </p:nvSpPr>
        <p:spPr>
          <a:xfrm>
            <a:off x="1931874" y="4797188"/>
            <a:ext cx="6051236" cy="1241828"/>
          </a:xfrm>
        </p:spPr>
        <p:txBody>
          <a:bodyPr>
            <a:normAutofit/>
          </a:bodyPr>
          <a:lstStyle/>
          <a:p>
            <a:pPr algn="r"/>
            <a:r>
              <a:rPr lang="en-IN" sz="2200" i="1">
                <a:solidFill>
                  <a:srgbClr val="FFFFFF"/>
                </a:solidFill>
              </a:rPr>
              <a:t>A technical deep-dive into retrieval experiments, their limitations, and a proposed agentic full-space reasoning approach</a:t>
            </a:r>
            <a:endParaRPr lang="en-IN" sz="2200">
              <a:solidFill>
                <a:srgbClr val="FFFFFF"/>
              </a:solidFill>
            </a:endParaRPr>
          </a:p>
          <a:p>
            <a:pPr algn="r"/>
            <a:endParaRPr lang="en-US" sz="2200">
              <a:solidFill>
                <a:srgbClr val="FFFFFF"/>
              </a:solidFill>
            </a:endParaRPr>
          </a:p>
        </p:txBody>
      </p:sp>
      <p:sp>
        <p:nvSpPr>
          <p:cNvPr id="260" name="Rectangle 259">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983152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5" name="Rectangle 64">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1A7615-717C-6CDE-F17C-1FFD8018CDAC}"/>
              </a:ext>
            </a:extLst>
          </p:cNvPr>
          <p:cNvSpPr>
            <a:spLocks noGrp="1"/>
          </p:cNvSpPr>
          <p:nvPr>
            <p:ph type="title"/>
          </p:nvPr>
        </p:nvSpPr>
        <p:spPr>
          <a:xfrm>
            <a:off x="1156851" y="637762"/>
            <a:ext cx="9888496" cy="900131"/>
          </a:xfrm>
        </p:spPr>
        <p:txBody>
          <a:bodyPr anchor="t">
            <a:normAutofit/>
          </a:bodyPr>
          <a:lstStyle/>
          <a:p>
            <a:r>
              <a:rPr lang="en-IN" sz="4000">
                <a:solidFill>
                  <a:schemeClr val="bg1"/>
                </a:solidFill>
              </a:rPr>
              <a:t>Executive Summary</a:t>
            </a:r>
            <a:endParaRPr lang="en-US" sz="4000">
              <a:solidFill>
                <a:schemeClr val="bg1"/>
              </a:solidFill>
            </a:endParaRPr>
          </a:p>
        </p:txBody>
      </p:sp>
      <p:sp>
        <p:nvSpPr>
          <p:cNvPr id="67" name="Rectangle 66">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Content Placeholder 2">
            <a:extLst>
              <a:ext uri="{FF2B5EF4-FFF2-40B4-BE49-F238E27FC236}">
                <a16:creationId xmlns:a16="http://schemas.microsoft.com/office/drawing/2014/main" id="{DD518F33-B65C-094B-AA1F-CDFDE1A24D3C}"/>
              </a:ext>
            </a:extLst>
          </p:cNvPr>
          <p:cNvSpPr>
            <a:spLocks noGrp="1"/>
          </p:cNvSpPr>
          <p:nvPr>
            <p:ph idx="1"/>
          </p:nvPr>
        </p:nvSpPr>
        <p:spPr>
          <a:xfrm>
            <a:off x="1155548" y="2217343"/>
            <a:ext cx="9880893" cy="3959619"/>
          </a:xfrm>
        </p:spPr>
        <p:txBody>
          <a:bodyPr>
            <a:normAutofit/>
          </a:bodyPr>
          <a:lstStyle/>
          <a:p>
            <a:r>
              <a:rPr lang="en-IN" sz="2000" dirty="0"/>
              <a:t>Over the past few weeks, I’ve been working on analysing and improving the automation of mapping external regulatory citations (NIST, DORA, ISO, etc.) to our internal cybersecurity requirements. This document summarizes (1) the core problem we face, (2) the retrieval-based approaches tried previously by the team and the enhancements I experimented with, (3) why retrieval—even in advanced forms—does not fully solve this use case, and (4) a new proposed architecture using domain-specialist agents who evaluate the entire requirement space.</a:t>
            </a:r>
          </a:p>
          <a:p>
            <a:r>
              <a:rPr lang="en-IN" sz="2000" dirty="0">
                <a:solidFill>
                  <a:schemeClr val="accent6">
                    <a:lumMod val="75000"/>
                  </a:schemeClr>
                </a:solidFill>
              </a:rPr>
              <a:t>Note: The earlier experiments made it clear that retrieval alone had precision and recall constraints in this scenario. I used those insights as a starting point for further exploration and to evaluate alternative approaches.</a:t>
            </a:r>
          </a:p>
        </p:txBody>
      </p:sp>
    </p:spTree>
    <p:extLst>
      <p:ext uri="{BB962C8B-B14F-4D97-AF65-F5344CB8AC3E}">
        <p14:creationId xmlns:p14="http://schemas.microsoft.com/office/powerpoint/2010/main" val="42191853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3" name="Rectangle 42">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22B1CB-2B35-F920-9B32-C52EF0B9BE26}"/>
              </a:ext>
            </a:extLst>
          </p:cNvPr>
          <p:cNvSpPr>
            <a:spLocks noGrp="1"/>
          </p:cNvSpPr>
          <p:nvPr>
            <p:ph type="title"/>
          </p:nvPr>
        </p:nvSpPr>
        <p:spPr>
          <a:xfrm>
            <a:off x="1371599" y="294538"/>
            <a:ext cx="9895951" cy="1033669"/>
          </a:xfrm>
        </p:spPr>
        <p:txBody>
          <a:bodyPr>
            <a:normAutofit/>
          </a:bodyPr>
          <a:lstStyle/>
          <a:p>
            <a:r>
              <a:rPr lang="en-IN" sz="4000">
                <a:solidFill>
                  <a:srgbClr val="FFFFFF"/>
                </a:solidFill>
              </a:rPr>
              <a:t>The Core Problem</a:t>
            </a:r>
            <a:endParaRPr lang="en-US" sz="4000">
              <a:solidFill>
                <a:srgbClr val="FFFFFF"/>
              </a:solidFill>
            </a:endParaRPr>
          </a:p>
        </p:txBody>
      </p:sp>
      <p:sp>
        <p:nvSpPr>
          <p:cNvPr id="6" name="Content Placeholder 5">
            <a:extLst>
              <a:ext uri="{FF2B5EF4-FFF2-40B4-BE49-F238E27FC236}">
                <a16:creationId xmlns:a16="http://schemas.microsoft.com/office/drawing/2014/main" id="{1AFB9EE6-3820-9379-A137-2B3FA308D4BE}"/>
              </a:ext>
            </a:extLst>
          </p:cNvPr>
          <p:cNvSpPr>
            <a:spLocks noGrp="1"/>
          </p:cNvSpPr>
          <p:nvPr>
            <p:ph idx="1"/>
          </p:nvPr>
        </p:nvSpPr>
        <p:spPr>
          <a:xfrm>
            <a:off x="1371599" y="2318197"/>
            <a:ext cx="9724031" cy="3683358"/>
          </a:xfrm>
        </p:spPr>
        <p:txBody>
          <a:bodyPr anchor="ctr">
            <a:normAutofit/>
          </a:bodyPr>
          <a:lstStyle/>
          <a:p>
            <a:r>
              <a:rPr lang="en-IN" sz="1700"/>
              <a:t>Our organization maintains a large set of internal cybersecurity requirements (around 4,000). These internal requirements are usually </a:t>
            </a:r>
            <a:r>
              <a:rPr lang="en-IN" sz="1700" b="1"/>
              <a:t>very concrete, operational, and implementation-focused</a:t>
            </a:r>
            <a:r>
              <a:rPr lang="en-IN" sz="1700"/>
              <a:t>. They describe </a:t>
            </a:r>
            <a:r>
              <a:rPr lang="en-IN" sz="1700" i="1"/>
              <a:t>what exactly needs to happen</a:t>
            </a:r>
            <a:r>
              <a:rPr lang="en-IN" sz="1700"/>
              <a:t>, </a:t>
            </a:r>
            <a:r>
              <a:rPr lang="en-IN" sz="1700" i="1"/>
              <a:t>who must do it</a:t>
            </a:r>
            <a:r>
              <a:rPr lang="en-IN" sz="1700"/>
              <a:t>, and </a:t>
            </a:r>
            <a:r>
              <a:rPr lang="en-IN" sz="1700" i="1"/>
              <a:t>how often it must be done</a:t>
            </a:r>
            <a:r>
              <a:rPr lang="en-IN" sz="1700"/>
              <a:t>.</a:t>
            </a:r>
          </a:p>
          <a:p>
            <a:r>
              <a:rPr lang="en-IN" sz="1700"/>
              <a:t>External regulatory citations—whether from NIST, DORA, ISO, or other bodies—tend to be </a:t>
            </a:r>
            <a:r>
              <a:rPr lang="en-IN" sz="1700" b="1"/>
              <a:t>high-level, principle-driven, and abstract</a:t>
            </a:r>
            <a:r>
              <a:rPr lang="en-IN" sz="1700"/>
              <a:t>. They express the </a:t>
            </a:r>
            <a:r>
              <a:rPr lang="en-IN" sz="1700" i="1"/>
              <a:t>intent</a:t>
            </a:r>
            <a:r>
              <a:rPr lang="en-IN" sz="1700"/>
              <a:t> or </a:t>
            </a:r>
            <a:r>
              <a:rPr lang="en-IN" sz="1700" i="1"/>
              <a:t>outcome</a:t>
            </a:r>
            <a:r>
              <a:rPr lang="en-IN" sz="1700"/>
              <a:t> regulators expect but rarely specify the detailed mechanisms through which organizations must achieve those outcomes.</a:t>
            </a:r>
          </a:p>
          <a:p>
            <a:r>
              <a:rPr lang="en-IN" sz="1700"/>
              <a:t>This creates a structural challenge:</a:t>
            </a:r>
            <a:br>
              <a:rPr lang="en-IN" sz="1700"/>
            </a:br>
            <a:r>
              <a:rPr lang="en-IN" sz="1700" b="1"/>
              <a:t>The language, abstraction level, and intent of regulatory citations rarely match how our internal controls are written.</a:t>
            </a:r>
            <a:endParaRPr lang="en-IN" sz="1700"/>
          </a:p>
          <a:p>
            <a:r>
              <a:rPr lang="en-IN" sz="1700"/>
              <a:t>To illustrate why this makes the mapping inherently difficult, the next slide contains detailed examples that consistently appear in real evaluations.</a:t>
            </a:r>
          </a:p>
          <a:p>
            <a:endParaRPr lang="en-US" sz="1700"/>
          </a:p>
        </p:txBody>
      </p:sp>
    </p:spTree>
    <p:extLst>
      <p:ext uri="{BB962C8B-B14F-4D97-AF65-F5344CB8AC3E}">
        <p14:creationId xmlns:p14="http://schemas.microsoft.com/office/powerpoint/2010/main" val="11277415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B0928CB-D90F-B17F-2D1B-442041FFC047}"/>
              </a:ext>
            </a:extLst>
          </p:cNvPr>
          <p:cNvSpPr>
            <a:spLocks noGrp="1"/>
          </p:cNvSpPr>
          <p:nvPr>
            <p:ph type="title"/>
          </p:nvPr>
        </p:nvSpPr>
        <p:spPr>
          <a:xfrm>
            <a:off x="1136397" y="502021"/>
            <a:ext cx="9688296" cy="1642969"/>
          </a:xfrm>
        </p:spPr>
        <p:txBody>
          <a:bodyPr anchor="b">
            <a:normAutofit/>
          </a:bodyPr>
          <a:lstStyle/>
          <a:p>
            <a:r>
              <a:rPr lang="en-US" sz="4000"/>
              <a:t>Example 1: </a:t>
            </a:r>
          </a:p>
        </p:txBody>
      </p:sp>
      <p:sp>
        <p:nvSpPr>
          <p:cNvPr id="3" name="Content Placeholder 2">
            <a:extLst>
              <a:ext uri="{FF2B5EF4-FFF2-40B4-BE49-F238E27FC236}">
                <a16:creationId xmlns:a16="http://schemas.microsoft.com/office/drawing/2014/main" id="{34E34BA7-5418-600E-1706-472E9345F859}"/>
              </a:ext>
            </a:extLst>
          </p:cNvPr>
          <p:cNvSpPr>
            <a:spLocks noGrp="1"/>
          </p:cNvSpPr>
          <p:nvPr>
            <p:ph idx="1"/>
          </p:nvPr>
        </p:nvSpPr>
        <p:spPr>
          <a:xfrm>
            <a:off x="1136397" y="2418409"/>
            <a:ext cx="9688296" cy="3454358"/>
          </a:xfrm>
        </p:spPr>
        <p:txBody>
          <a:bodyPr anchor="t">
            <a:normAutofit/>
          </a:bodyPr>
          <a:lstStyle/>
          <a:p>
            <a:r>
              <a:rPr lang="en-IN" sz="1300" b="1" dirty="0"/>
              <a:t>External Citation (Regulator):</a:t>
            </a:r>
            <a:br>
              <a:rPr lang="en-IN" sz="1300" dirty="0"/>
            </a:br>
            <a:r>
              <a:rPr lang="en-IN" sz="1300" i="1" dirty="0"/>
              <a:t>“The organization shall ensure appropriate oversight and alignment of cybersecurity activities with its strategic objectives.”</a:t>
            </a:r>
            <a:endParaRPr lang="en-IN" sz="1300" dirty="0"/>
          </a:p>
          <a:p>
            <a:r>
              <a:rPr lang="en-IN" sz="1300" b="1" dirty="0"/>
              <a:t>Internal Requirement (Ours):</a:t>
            </a:r>
            <a:br>
              <a:rPr lang="en-IN" sz="1300" dirty="0"/>
            </a:br>
            <a:r>
              <a:rPr lang="en-IN" sz="1300" i="1" dirty="0"/>
              <a:t>“Risk owners must be assigned to each business process, and review meetings must be held quarterly.”</a:t>
            </a:r>
            <a:endParaRPr lang="en-IN" sz="1300" dirty="0"/>
          </a:p>
          <a:p>
            <a:r>
              <a:rPr lang="en-IN" sz="1300" b="1" dirty="0"/>
              <a:t>Why Retrieval Fails:</a:t>
            </a:r>
            <a:endParaRPr lang="en-IN" sz="1300" dirty="0"/>
          </a:p>
          <a:p>
            <a:pPr lvl="1"/>
            <a:r>
              <a:rPr lang="en-IN" sz="1300" dirty="0"/>
              <a:t>The citation uses concepts like “oversight”, “alignment”, “strategic objectives”.</a:t>
            </a:r>
          </a:p>
          <a:p>
            <a:pPr lvl="1"/>
            <a:r>
              <a:rPr lang="en-IN" sz="1300" dirty="0"/>
              <a:t>The requirement focuses on “risk owners”, “processes”, “review meetings”.</a:t>
            </a:r>
          </a:p>
          <a:p>
            <a:pPr lvl="1"/>
            <a:r>
              <a:rPr lang="en-IN" sz="1300" dirty="0"/>
              <a:t>There is almost no lexical overlap.</a:t>
            </a:r>
          </a:p>
          <a:p>
            <a:pPr lvl="1"/>
            <a:r>
              <a:rPr lang="en-IN" sz="1300" dirty="0"/>
              <a:t>Dense embeddings won’t see them as semantically close.</a:t>
            </a:r>
          </a:p>
          <a:p>
            <a:pPr lvl="1"/>
            <a:r>
              <a:rPr lang="en-IN" sz="1300" dirty="0"/>
              <a:t>Sparse retrieval won’t match any meaningful tokens.</a:t>
            </a:r>
          </a:p>
          <a:p>
            <a:r>
              <a:rPr lang="en-IN" sz="1300" b="1" dirty="0"/>
              <a:t>But logically:</a:t>
            </a:r>
            <a:br>
              <a:rPr lang="en-IN" sz="1300" dirty="0"/>
            </a:br>
            <a:r>
              <a:rPr lang="en-IN" sz="1300" dirty="0"/>
              <a:t>Assigning risk owners + scheduled governance reviews </a:t>
            </a:r>
            <a:r>
              <a:rPr lang="en-IN" sz="1300" i="1" dirty="0"/>
              <a:t>is exactly how</a:t>
            </a:r>
            <a:r>
              <a:rPr lang="en-IN" sz="1300" dirty="0"/>
              <a:t> cybersecurity oversight aligns with strategic objectives.</a:t>
            </a:r>
          </a:p>
          <a:p>
            <a:r>
              <a:rPr lang="en-IN" sz="1300" dirty="0"/>
              <a:t>This is a </a:t>
            </a:r>
            <a:r>
              <a:rPr lang="en-IN" sz="1300" b="1" dirty="0"/>
              <a:t>mechanistic implementation</a:t>
            </a:r>
            <a:r>
              <a:rPr lang="en-IN" sz="1300" dirty="0"/>
              <a:t> of a </a:t>
            </a:r>
            <a:r>
              <a:rPr lang="en-IN" sz="1300" b="1" dirty="0"/>
              <a:t>governance-level intention</a:t>
            </a:r>
            <a:r>
              <a:rPr lang="en-IN" sz="1300" dirty="0"/>
              <a:t>, but the language is mismatched.</a:t>
            </a:r>
          </a:p>
          <a:p>
            <a:endParaRPr lang="en-US" sz="1300" dirty="0"/>
          </a:p>
        </p:txBody>
      </p:sp>
      <p:sp>
        <p:nvSpPr>
          <p:cNvPr id="36" name="Rectangle 35">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43602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39EAE4D-8DA5-50D7-D75E-2390ADBB653D}"/>
            </a:ext>
          </a:extLst>
        </p:cNvPr>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A29725-A787-0ED9-9FA7-DF43DD835899}"/>
              </a:ext>
            </a:extLst>
          </p:cNvPr>
          <p:cNvSpPr>
            <a:spLocks noGrp="1"/>
          </p:cNvSpPr>
          <p:nvPr>
            <p:ph type="title"/>
          </p:nvPr>
        </p:nvSpPr>
        <p:spPr>
          <a:xfrm>
            <a:off x="1136397" y="502021"/>
            <a:ext cx="9688296" cy="1642969"/>
          </a:xfrm>
        </p:spPr>
        <p:txBody>
          <a:bodyPr anchor="b">
            <a:normAutofit/>
          </a:bodyPr>
          <a:lstStyle/>
          <a:p>
            <a:r>
              <a:rPr lang="en-US" sz="4000"/>
              <a:t>Example 2: </a:t>
            </a:r>
          </a:p>
        </p:txBody>
      </p:sp>
      <p:sp>
        <p:nvSpPr>
          <p:cNvPr id="3" name="Content Placeholder 2">
            <a:extLst>
              <a:ext uri="{FF2B5EF4-FFF2-40B4-BE49-F238E27FC236}">
                <a16:creationId xmlns:a16="http://schemas.microsoft.com/office/drawing/2014/main" id="{DAEF4842-F3C5-FA04-64EA-CAAD24633290}"/>
              </a:ext>
            </a:extLst>
          </p:cNvPr>
          <p:cNvSpPr>
            <a:spLocks noGrp="1"/>
          </p:cNvSpPr>
          <p:nvPr>
            <p:ph idx="1"/>
          </p:nvPr>
        </p:nvSpPr>
        <p:spPr>
          <a:xfrm>
            <a:off x="1136397" y="2418409"/>
            <a:ext cx="9688296" cy="3454358"/>
          </a:xfrm>
        </p:spPr>
        <p:txBody>
          <a:bodyPr anchor="t">
            <a:normAutofit/>
          </a:bodyPr>
          <a:lstStyle/>
          <a:p>
            <a:r>
              <a:rPr lang="en-IN" sz="1400" b="1"/>
              <a:t>External Citation:</a:t>
            </a:r>
            <a:br>
              <a:rPr lang="en-IN" sz="1400"/>
            </a:br>
            <a:r>
              <a:rPr lang="en-IN" sz="1400" i="1"/>
              <a:t>“Organizations must be prepared to detect and respond to cybersecurity incidents in a timely manner.”</a:t>
            </a:r>
            <a:endParaRPr lang="en-IN" sz="1400"/>
          </a:p>
          <a:p>
            <a:r>
              <a:rPr lang="en-IN" sz="1400" b="1"/>
              <a:t>Internal Requirement:</a:t>
            </a:r>
            <a:br>
              <a:rPr lang="en-IN" sz="1400"/>
            </a:br>
            <a:r>
              <a:rPr lang="en-IN" sz="1400" i="1"/>
              <a:t>“The SOC shall escalate incidents to Tier-2 analysts within 15 minutes based on predefined severity thresholds.”</a:t>
            </a:r>
            <a:endParaRPr lang="en-IN" sz="1400"/>
          </a:p>
          <a:p>
            <a:r>
              <a:rPr lang="en-IN" sz="1400" b="1"/>
              <a:t>Retrieval Problems:</a:t>
            </a:r>
            <a:endParaRPr lang="en-IN" sz="1400"/>
          </a:p>
          <a:p>
            <a:pPr lvl="1"/>
            <a:r>
              <a:rPr lang="en-IN" sz="1400"/>
              <a:t>The citation uses broad terms: “prepared”, “detect”, “respond”, “timely”.</a:t>
            </a:r>
          </a:p>
          <a:p>
            <a:pPr lvl="1"/>
            <a:r>
              <a:rPr lang="en-IN" sz="1400"/>
              <a:t>Our requirement uses highly operational terms: “SOC”, “Tier-2”, “15 minutes”, “severity thresholds”.</a:t>
            </a:r>
          </a:p>
          <a:p>
            <a:pPr lvl="1"/>
            <a:r>
              <a:rPr lang="en-IN" sz="1400"/>
              <a:t>Even a powerful hybrid retrieval pipeline cannot reliably connect these unless the exact tokens overlap.</a:t>
            </a:r>
          </a:p>
          <a:p>
            <a:r>
              <a:rPr lang="en-IN" sz="1400" b="1"/>
              <a:t>Human interpretation:</a:t>
            </a:r>
            <a:br>
              <a:rPr lang="en-IN" sz="1400"/>
            </a:br>
            <a:r>
              <a:rPr lang="en-IN" sz="1400"/>
              <a:t>This internal control </a:t>
            </a:r>
            <a:r>
              <a:rPr lang="en-IN" sz="1400" i="1"/>
              <a:t>is</a:t>
            </a:r>
            <a:r>
              <a:rPr lang="en-IN" sz="1400"/>
              <a:t> the operational enforcement of “timely detection and response”.</a:t>
            </a:r>
            <a:br>
              <a:rPr lang="en-IN" sz="1400"/>
            </a:br>
            <a:r>
              <a:rPr lang="en-IN" sz="1400"/>
              <a:t>But no embedding model will reliably map “Tier-2 escalation in 15 minutes” → “timely response” across 5,000 documents.</a:t>
            </a:r>
          </a:p>
          <a:p>
            <a:r>
              <a:rPr lang="en-IN" sz="1400"/>
              <a:t>This is a </a:t>
            </a:r>
            <a:r>
              <a:rPr lang="en-IN" sz="1400" b="1"/>
              <a:t>conceptual match</a:t>
            </a:r>
            <a:r>
              <a:rPr lang="en-IN" sz="1400"/>
              <a:t>, not a </a:t>
            </a:r>
            <a:r>
              <a:rPr lang="en-IN" sz="1400" b="1"/>
              <a:t>semantic match</a:t>
            </a:r>
            <a:r>
              <a:rPr lang="en-IN" sz="1400"/>
              <a:t>.</a:t>
            </a:r>
          </a:p>
          <a:p>
            <a:pPr marL="0" indent="0">
              <a:buNone/>
            </a:pPr>
            <a:endParaRPr lang="en-US" sz="1400"/>
          </a:p>
        </p:txBody>
      </p:sp>
      <p:sp>
        <p:nvSpPr>
          <p:cNvPr id="28" name="Rectangle 27">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36760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4D7125-07F1-05BE-C61C-DFDA580E6224}"/>
              </a:ext>
            </a:extLst>
          </p:cNvPr>
          <p:cNvSpPr>
            <a:spLocks noGrp="1"/>
          </p:cNvSpPr>
          <p:nvPr>
            <p:ph type="title"/>
          </p:nvPr>
        </p:nvSpPr>
        <p:spPr>
          <a:xfrm>
            <a:off x="1371599" y="294538"/>
            <a:ext cx="9895951" cy="1033669"/>
          </a:xfrm>
        </p:spPr>
        <p:txBody>
          <a:bodyPr>
            <a:normAutofit/>
          </a:bodyPr>
          <a:lstStyle/>
          <a:p>
            <a:r>
              <a:rPr lang="en-IN" sz="3400">
                <a:solidFill>
                  <a:srgbClr val="FFFFFF"/>
                </a:solidFill>
              </a:rPr>
              <a:t>What we have Built so far (and What I Learned From It)</a:t>
            </a:r>
            <a:endParaRPr lang="en-US" sz="3400">
              <a:solidFill>
                <a:srgbClr val="FFFFFF"/>
              </a:solidFill>
            </a:endParaRPr>
          </a:p>
        </p:txBody>
      </p:sp>
      <p:sp>
        <p:nvSpPr>
          <p:cNvPr id="3" name="Content Placeholder 2">
            <a:extLst>
              <a:ext uri="{FF2B5EF4-FFF2-40B4-BE49-F238E27FC236}">
                <a16:creationId xmlns:a16="http://schemas.microsoft.com/office/drawing/2014/main" id="{C3140993-98F9-F0A6-5428-1A0EBC0423B7}"/>
              </a:ext>
            </a:extLst>
          </p:cNvPr>
          <p:cNvSpPr>
            <a:spLocks noGrp="1"/>
          </p:cNvSpPr>
          <p:nvPr>
            <p:ph idx="1"/>
          </p:nvPr>
        </p:nvSpPr>
        <p:spPr>
          <a:xfrm>
            <a:off x="1371599" y="2318197"/>
            <a:ext cx="9724031" cy="3683358"/>
          </a:xfrm>
        </p:spPr>
        <p:txBody>
          <a:bodyPr anchor="ctr">
            <a:normAutofit/>
          </a:bodyPr>
          <a:lstStyle/>
          <a:p>
            <a:r>
              <a:rPr lang="en-IN" sz="1700"/>
              <a:t>Before I joined this effort, the team implemented a solid RAG-based model. They used dense embeddings over internal requirements, retrieval over a vector store, and an LLM to evaluate and rank candidates. Their work helped me get a grounded understanding of:</a:t>
            </a:r>
          </a:p>
          <a:p>
            <a:pPr lvl="1"/>
            <a:r>
              <a:rPr lang="en-IN" sz="1700"/>
              <a:t>how internal requirements are structured</a:t>
            </a:r>
          </a:p>
          <a:p>
            <a:pPr lvl="1"/>
            <a:r>
              <a:rPr lang="en-IN" sz="1700"/>
              <a:t>how citations vary in tone and detail</a:t>
            </a:r>
          </a:p>
          <a:p>
            <a:pPr lvl="1"/>
            <a:r>
              <a:rPr lang="en-IN" sz="1700"/>
              <a:t>the kinds of mismatches retrieval struggles with</a:t>
            </a:r>
          </a:p>
          <a:p>
            <a:pPr lvl="1"/>
            <a:r>
              <a:rPr lang="en-IN" sz="1700"/>
              <a:t>what the precision and recall looked like in practice</a:t>
            </a:r>
          </a:p>
          <a:p>
            <a:r>
              <a:rPr lang="en-IN" sz="1700"/>
              <a:t>The team also experimented with enhancing retrieval by adding contextual information like Domain, Topic, etc into the requirement chunks, RAG Fusion, breaking citations into LLM-generated sub-citations to increase recall. Through their evaluations, it became clear that recall did improve, but precision remained low and many valid mappings were still missed. This set the stage for me to explore additional retrieval techniques and understand their behaviour on this use case.</a:t>
            </a:r>
          </a:p>
          <a:p>
            <a:endParaRPr lang="en-US" sz="1700"/>
          </a:p>
        </p:txBody>
      </p:sp>
    </p:spTree>
    <p:extLst>
      <p:ext uri="{BB962C8B-B14F-4D97-AF65-F5344CB8AC3E}">
        <p14:creationId xmlns:p14="http://schemas.microsoft.com/office/powerpoint/2010/main" val="41764095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399CCC-DF4A-0DE4-0AC7-4C6EF6CED325}"/>
              </a:ext>
            </a:extLst>
          </p:cNvPr>
          <p:cNvSpPr>
            <a:spLocks noGrp="1"/>
          </p:cNvSpPr>
          <p:nvPr>
            <p:ph type="title"/>
          </p:nvPr>
        </p:nvSpPr>
        <p:spPr>
          <a:xfrm>
            <a:off x="1371599" y="294538"/>
            <a:ext cx="9895951" cy="1033669"/>
          </a:xfrm>
        </p:spPr>
        <p:txBody>
          <a:bodyPr>
            <a:normAutofit/>
          </a:bodyPr>
          <a:lstStyle/>
          <a:p>
            <a:r>
              <a:rPr lang="en-IN" sz="3400">
                <a:solidFill>
                  <a:srgbClr val="FFFFFF"/>
                </a:solidFill>
              </a:rPr>
              <a:t>Retrieval Techniques I Explored (High-Level Overview)</a:t>
            </a:r>
            <a:endParaRPr lang="en-US" sz="3400">
              <a:solidFill>
                <a:srgbClr val="FFFFFF"/>
              </a:solidFill>
            </a:endParaRPr>
          </a:p>
        </p:txBody>
      </p:sp>
      <p:sp>
        <p:nvSpPr>
          <p:cNvPr id="3" name="Content Placeholder 2">
            <a:extLst>
              <a:ext uri="{FF2B5EF4-FFF2-40B4-BE49-F238E27FC236}">
                <a16:creationId xmlns:a16="http://schemas.microsoft.com/office/drawing/2014/main" id="{432BCBC7-233C-9F8E-0CA7-5A4FEEB35A12}"/>
              </a:ext>
            </a:extLst>
          </p:cNvPr>
          <p:cNvSpPr>
            <a:spLocks noGrp="1"/>
          </p:cNvSpPr>
          <p:nvPr>
            <p:ph idx="1"/>
          </p:nvPr>
        </p:nvSpPr>
        <p:spPr>
          <a:xfrm>
            <a:off x="1371599" y="2318197"/>
            <a:ext cx="9724031" cy="3683358"/>
          </a:xfrm>
        </p:spPr>
        <p:txBody>
          <a:bodyPr anchor="ctr">
            <a:normAutofit/>
          </a:bodyPr>
          <a:lstStyle/>
          <a:p>
            <a:pPr marL="0" indent="0">
              <a:buNone/>
            </a:pPr>
            <a:r>
              <a:rPr lang="en-IN" sz="1900" dirty="0"/>
              <a:t>To build on the earlier work and see how far retrieval could be pushed, I experimented with several additional approaches:</a:t>
            </a:r>
          </a:p>
          <a:p>
            <a:pPr lvl="1"/>
            <a:r>
              <a:rPr lang="en-IN" sz="1900" b="1" dirty="0"/>
              <a:t>Sparse neural retrieval</a:t>
            </a:r>
            <a:r>
              <a:rPr lang="en-IN" sz="1900" dirty="0"/>
              <a:t> (SPLADE/</a:t>
            </a:r>
            <a:r>
              <a:rPr lang="en-IN" sz="1900" dirty="0" err="1"/>
              <a:t>ColBERT</a:t>
            </a:r>
            <a:r>
              <a:rPr lang="en-IN" sz="1900" dirty="0"/>
              <a:t> style modelling)</a:t>
            </a:r>
          </a:p>
          <a:p>
            <a:pPr lvl="1"/>
            <a:r>
              <a:rPr lang="en-IN" sz="1900" b="1" dirty="0"/>
              <a:t>Hybrid retrieval</a:t>
            </a:r>
            <a:r>
              <a:rPr lang="en-IN" sz="1900" dirty="0"/>
              <a:t> combining sparse + dense signals</a:t>
            </a:r>
          </a:p>
          <a:p>
            <a:pPr lvl="1"/>
            <a:r>
              <a:rPr lang="en-IN" sz="1900" b="1" dirty="0"/>
              <a:t>Reciprocal Rank Fusion (RRF)</a:t>
            </a:r>
            <a:r>
              <a:rPr lang="en-IN" sz="1900" dirty="0"/>
              <a:t> to merge ranked lists from multiple retrieval sources</a:t>
            </a:r>
          </a:p>
          <a:p>
            <a:pPr lvl="1"/>
            <a:r>
              <a:rPr lang="en-IN" sz="1900" b="1" dirty="0"/>
              <a:t>Deeper analysis of RAG Fusion</a:t>
            </a:r>
            <a:r>
              <a:rPr lang="en-IN" sz="1900" dirty="0"/>
              <a:t> and its sub-citation generation behaviour</a:t>
            </a:r>
          </a:p>
          <a:p>
            <a:pPr marL="0" indent="0">
              <a:buNone/>
            </a:pPr>
            <a:r>
              <a:rPr lang="en-IN" sz="1900" dirty="0"/>
              <a:t>All of these techniques are strong for general search/</a:t>
            </a:r>
            <a:r>
              <a:rPr lang="en-IN" sz="1900" dirty="0" err="1"/>
              <a:t>QnA</a:t>
            </a:r>
            <a:r>
              <a:rPr lang="en-IN" sz="1900" dirty="0"/>
              <a:t> tasks, and each contributed valuable insights. However, the evaluations confirmed the same fundamental issue: retrieval alone is not sufficient for this mapping task.</a:t>
            </a:r>
          </a:p>
          <a:p>
            <a:endParaRPr lang="en-US" sz="1900" dirty="0"/>
          </a:p>
        </p:txBody>
      </p:sp>
    </p:spTree>
    <p:extLst>
      <p:ext uri="{BB962C8B-B14F-4D97-AF65-F5344CB8AC3E}">
        <p14:creationId xmlns:p14="http://schemas.microsoft.com/office/powerpoint/2010/main" val="26541650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7" name="Rectangle 26">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Freeform: Shape 34">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7" name="Rectangle 36">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604509-C014-8601-FDA2-B1191C4231B5}"/>
              </a:ext>
            </a:extLst>
          </p:cNvPr>
          <p:cNvSpPr>
            <a:spLocks noGrp="1"/>
          </p:cNvSpPr>
          <p:nvPr>
            <p:ph type="title"/>
          </p:nvPr>
        </p:nvSpPr>
        <p:spPr>
          <a:xfrm>
            <a:off x="466722" y="586855"/>
            <a:ext cx="3201366" cy="3387497"/>
          </a:xfrm>
        </p:spPr>
        <p:txBody>
          <a:bodyPr anchor="b">
            <a:normAutofit/>
          </a:bodyPr>
          <a:lstStyle/>
          <a:p>
            <a:pPr algn="r"/>
            <a:r>
              <a:rPr lang="en-IN" sz="4000">
                <a:solidFill>
                  <a:srgbClr val="FFFFFF"/>
                </a:solidFill>
              </a:rPr>
              <a:t>Dense Embedding Retrieval: Why It Fell Short</a:t>
            </a:r>
            <a:endParaRPr lang="en-US" sz="4000">
              <a:solidFill>
                <a:srgbClr val="FFFFFF"/>
              </a:solidFill>
            </a:endParaRPr>
          </a:p>
        </p:txBody>
      </p:sp>
      <p:sp>
        <p:nvSpPr>
          <p:cNvPr id="19" name="Content Placeholder 2">
            <a:extLst>
              <a:ext uri="{FF2B5EF4-FFF2-40B4-BE49-F238E27FC236}">
                <a16:creationId xmlns:a16="http://schemas.microsoft.com/office/drawing/2014/main" id="{07FCE417-1DA3-2870-1098-3DBE9CF5934A}"/>
              </a:ext>
            </a:extLst>
          </p:cNvPr>
          <p:cNvSpPr>
            <a:spLocks noGrp="1"/>
          </p:cNvSpPr>
          <p:nvPr>
            <p:ph idx="1"/>
          </p:nvPr>
        </p:nvSpPr>
        <p:spPr>
          <a:xfrm>
            <a:off x="4810259" y="649480"/>
            <a:ext cx="6555347" cy="5546047"/>
          </a:xfrm>
        </p:spPr>
        <p:txBody>
          <a:bodyPr anchor="ctr">
            <a:normAutofit/>
          </a:bodyPr>
          <a:lstStyle/>
          <a:p>
            <a:pPr marL="0" indent="0">
              <a:buNone/>
            </a:pPr>
            <a:r>
              <a:rPr lang="en-IN" sz="1900"/>
              <a:t>Dense embeddings are excellent for capturing semantic similarity across natural language, but our use case often requires mapping texts that have </a:t>
            </a:r>
            <a:r>
              <a:rPr lang="en-IN" sz="1900" i="1"/>
              <a:t>no natural semantic proximity</a:t>
            </a:r>
            <a:r>
              <a:rPr lang="en-IN" sz="1900"/>
              <a:t>.</a:t>
            </a:r>
          </a:p>
          <a:p>
            <a:pPr marL="0" indent="0">
              <a:buNone/>
            </a:pPr>
            <a:r>
              <a:rPr lang="en-IN" sz="1900" b="1"/>
              <a:t>Example</a:t>
            </a:r>
            <a:r>
              <a:rPr lang="en-IN" sz="1900"/>
              <a:t>:</a:t>
            </a:r>
          </a:p>
          <a:p>
            <a:pPr lvl="1"/>
            <a:r>
              <a:rPr lang="en-IN" sz="1900"/>
              <a:t>Citation: “</a:t>
            </a:r>
            <a:r>
              <a:rPr lang="en-IN" sz="1900" i="1"/>
              <a:t>Cybersecurity must align with organizational vision and leadership</a:t>
            </a:r>
            <a:r>
              <a:rPr lang="en-IN" sz="1900"/>
              <a:t>.”</a:t>
            </a:r>
          </a:p>
          <a:p>
            <a:pPr lvl="1"/>
            <a:r>
              <a:rPr lang="en-IN" sz="1900"/>
              <a:t>Requirement: “</a:t>
            </a:r>
            <a:r>
              <a:rPr lang="en-IN" sz="1900" i="1"/>
              <a:t>Risk owners must be assigned to each business process</a:t>
            </a:r>
            <a:r>
              <a:rPr lang="en-IN" sz="1900"/>
              <a:t>.”</a:t>
            </a:r>
          </a:p>
          <a:p>
            <a:pPr marL="0" indent="0">
              <a:buNone/>
            </a:pPr>
            <a:r>
              <a:rPr lang="en-IN" sz="1900"/>
              <a:t>These two sentences will never be close in embedding space, yet logically the requirement is exactly one of the mechanisms that satisfies the citation.</a:t>
            </a:r>
          </a:p>
          <a:p>
            <a:pPr marL="0" indent="0">
              <a:buNone/>
            </a:pPr>
            <a:r>
              <a:rPr lang="en-IN" sz="1900"/>
              <a:t>Dense retrieval consistently struggled here because:</a:t>
            </a:r>
          </a:p>
          <a:p>
            <a:pPr lvl="1"/>
            <a:r>
              <a:rPr lang="en-IN" sz="1900"/>
              <a:t>It assumes similarity = relevance.</a:t>
            </a:r>
          </a:p>
          <a:p>
            <a:pPr lvl="1"/>
            <a:r>
              <a:rPr lang="en-IN" sz="1900"/>
              <a:t>It cannot infer “</a:t>
            </a:r>
            <a:r>
              <a:rPr lang="en-IN" sz="1900" i="1"/>
              <a:t>role assignment → governance → oversight → alignment</a:t>
            </a:r>
            <a:r>
              <a:rPr lang="en-IN" sz="1900"/>
              <a:t>.”</a:t>
            </a:r>
          </a:p>
          <a:p>
            <a:pPr lvl="1"/>
            <a:r>
              <a:rPr lang="en-IN" sz="1900"/>
              <a:t>It misses requirements that are </a:t>
            </a:r>
            <a:r>
              <a:rPr lang="en-IN" sz="1900" i="1"/>
              <a:t>mechanistically</a:t>
            </a:r>
            <a:r>
              <a:rPr lang="en-IN" sz="1900"/>
              <a:t> relevant but </a:t>
            </a:r>
            <a:r>
              <a:rPr lang="en-IN" sz="1900" i="1"/>
              <a:t>textually</a:t>
            </a:r>
            <a:r>
              <a:rPr lang="en-IN" sz="1900"/>
              <a:t> unrelated.</a:t>
            </a:r>
          </a:p>
          <a:p>
            <a:endParaRPr lang="en-US" sz="1900"/>
          </a:p>
        </p:txBody>
      </p:sp>
    </p:spTree>
    <p:extLst>
      <p:ext uri="{BB962C8B-B14F-4D97-AF65-F5344CB8AC3E}">
        <p14:creationId xmlns:p14="http://schemas.microsoft.com/office/powerpoint/2010/main" val="3300866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0" name="Rectangle 99">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1" name="Rectangle 10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ectangle 102">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ectangle 103">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Freeform: Shape 96">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9" name="Rectangle 98">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0CEE66-2409-CCC5-6A8F-0F548F06300C}"/>
              </a:ext>
            </a:extLst>
          </p:cNvPr>
          <p:cNvSpPr>
            <a:spLocks noGrp="1"/>
          </p:cNvSpPr>
          <p:nvPr>
            <p:ph type="title"/>
          </p:nvPr>
        </p:nvSpPr>
        <p:spPr>
          <a:xfrm>
            <a:off x="466722" y="586855"/>
            <a:ext cx="3201366" cy="3387497"/>
          </a:xfrm>
        </p:spPr>
        <p:txBody>
          <a:bodyPr anchor="b">
            <a:normAutofit/>
          </a:bodyPr>
          <a:lstStyle/>
          <a:p>
            <a:pPr algn="r"/>
            <a:r>
              <a:rPr lang="en-IN" sz="4000" dirty="0">
                <a:solidFill>
                  <a:srgbClr val="FFFFFF"/>
                </a:solidFill>
              </a:rPr>
              <a:t>Sparse Neural Retrieval: What It Adds and Why It Still Misses</a:t>
            </a:r>
            <a:endParaRPr lang="en-US" sz="4000" dirty="0">
              <a:solidFill>
                <a:srgbClr val="FFFFFF"/>
              </a:solidFill>
            </a:endParaRPr>
          </a:p>
        </p:txBody>
      </p:sp>
      <p:sp>
        <p:nvSpPr>
          <p:cNvPr id="3" name="Content Placeholder 2">
            <a:extLst>
              <a:ext uri="{FF2B5EF4-FFF2-40B4-BE49-F238E27FC236}">
                <a16:creationId xmlns:a16="http://schemas.microsoft.com/office/drawing/2014/main" id="{B863137A-5E39-690A-BA5F-447788D9179E}"/>
              </a:ext>
            </a:extLst>
          </p:cNvPr>
          <p:cNvSpPr>
            <a:spLocks noGrp="1"/>
          </p:cNvSpPr>
          <p:nvPr>
            <p:ph idx="1"/>
          </p:nvPr>
        </p:nvSpPr>
        <p:spPr>
          <a:xfrm>
            <a:off x="4504548" y="376518"/>
            <a:ext cx="7220729" cy="6118411"/>
          </a:xfrm>
        </p:spPr>
        <p:txBody>
          <a:bodyPr anchor="ctr">
            <a:normAutofit lnSpcReduction="10000"/>
          </a:bodyPr>
          <a:lstStyle/>
          <a:p>
            <a:pPr marL="0" indent="0">
              <a:buNone/>
            </a:pPr>
            <a:r>
              <a:rPr lang="en-IN" sz="1400" b="1" dirty="0"/>
              <a:t>What Sparse Models Do</a:t>
            </a:r>
            <a:br>
              <a:rPr lang="en-IN" sz="1400" dirty="0"/>
            </a:br>
            <a:r>
              <a:rPr lang="en-IN" sz="1400" dirty="0"/>
              <a:t>Sparse neural retrieval (e.g., SPLADE) is essentially a </a:t>
            </a:r>
            <a:r>
              <a:rPr lang="en-IN" sz="1400" b="1" dirty="0"/>
              <a:t>smarter BM25</a:t>
            </a:r>
            <a:r>
              <a:rPr lang="en-IN" sz="1400" dirty="0"/>
              <a:t>: instead of dense embeddings, it produces sparse vectors weighted by learned token importance. It captures important terms, expands related tokens, and improves keyword-based matching.</a:t>
            </a:r>
          </a:p>
          <a:p>
            <a:pPr marL="0" indent="0">
              <a:buNone/>
            </a:pPr>
            <a:r>
              <a:rPr lang="en-IN" sz="1400" b="1" dirty="0"/>
              <a:t>Simple intuition:</a:t>
            </a:r>
            <a:br>
              <a:rPr lang="en-IN" sz="1400" dirty="0"/>
            </a:br>
            <a:r>
              <a:rPr lang="en-IN" sz="1400" dirty="0"/>
              <a:t>If BM25 “counts exact keyword matches,” sparse neural models behave like a </a:t>
            </a:r>
            <a:r>
              <a:rPr lang="en-IN" sz="1400" b="1" dirty="0"/>
              <a:t>smarter BM25</a:t>
            </a:r>
            <a:r>
              <a:rPr lang="en-IN" sz="1400" dirty="0"/>
              <a:t> that can expand important terms, down-weight irrelevant ones, and highlight words that truly matter in context.</a:t>
            </a:r>
          </a:p>
          <a:p>
            <a:pPr marL="0" indent="0">
              <a:buNone/>
            </a:pPr>
            <a:r>
              <a:rPr lang="en-IN" sz="1400" b="1" dirty="0"/>
              <a:t>Why I Tried It</a:t>
            </a:r>
            <a:br>
              <a:rPr lang="en-IN" sz="1400" dirty="0"/>
            </a:br>
            <a:r>
              <a:rPr lang="en-IN" sz="1400" dirty="0"/>
              <a:t>I experimented with sparse models hoping they would catch matches that dense embeddings miss. Specifically:</a:t>
            </a:r>
          </a:p>
          <a:p>
            <a:r>
              <a:rPr lang="en-IN" sz="1400" dirty="0"/>
              <a:t>Dense models were sometimes </a:t>
            </a:r>
            <a:r>
              <a:rPr lang="en-IN" sz="1400" i="1" dirty="0"/>
              <a:t>too fuzzy</a:t>
            </a:r>
            <a:r>
              <a:rPr lang="en-IN" sz="1400" dirty="0"/>
              <a:t>, losing domain-specific terminology.</a:t>
            </a:r>
          </a:p>
          <a:p>
            <a:r>
              <a:rPr lang="en-IN" sz="1400" dirty="0"/>
              <a:t>Sparse models excel when terminology matters (legal search, code search, e-commerce, etc.).</a:t>
            </a:r>
          </a:p>
          <a:p>
            <a:r>
              <a:rPr lang="en-IN" sz="1400" dirty="0"/>
              <a:t>They offer interpretability and transparent term-level reasoning.</a:t>
            </a:r>
          </a:p>
          <a:p>
            <a:r>
              <a:rPr lang="en-IN" sz="1400" dirty="0"/>
              <a:t>I expected them to find cases where requirements and citations share even partial vocabulary or domain cues.</a:t>
            </a:r>
          </a:p>
          <a:p>
            <a:pPr marL="0" indent="0">
              <a:buNone/>
            </a:pPr>
            <a:r>
              <a:rPr lang="en-IN" sz="1400" b="1" dirty="0"/>
              <a:t>Where It Breaks</a:t>
            </a:r>
            <a:br>
              <a:rPr lang="en-IN" sz="1400" dirty="0"/>
            </a:br>
            <a:r>
              <a:rPr lang="en-IN" sz="1400" dirty="0"/>
              <a:t>Sparse models still rely on </a:t>
            </a:r>
            <a:r>
              <a:rPr lang="en-IN" sz="1400" b="1" dirty="0"/>
              <a:t>token overlap or token-level relatedness</a:t>
            </a:r>
            <a:r>
              <a:rPr lang="en-IN" sz="1400" dirty="0"/>
              <a:t>. In our setting, regulatory text uses </a:t>
            </a:r>
            <a:r>
              <a:rPr lang="en-IN" sz="1400" b="1" dirty="0"/>
              <a:t>abstract governance language</a:t>
            </a:r>
            <a:r>
              <a:rPr lang="en-IN" sz="1400" dirty="0"/>
              <a:t>, while internal requirements use </a:t>
            </a:r>
            <a:r>
              <a:rPr lang="en-IN" sz="1400" b="1" dirty="0"/>
              <a:t>operational/technical language</a:t>
            </a:r>
            <a:r>
              <a:rPr lang="en-IN" sz="1400" dirty="0"/>
              <a:t> — almost no shared vocabulary.</a:t>
            </a:r>
          </a:p>
          <a:p>
            <a:pPr marL="0" indent="0">
              <a:buNone/>
            </a:pPr>
            <a:r>
              <a:rPr lang="en-IN" sz="1400" dirty="0"/>
              <a:t>Sparse retrieval cannot infer mappings like:</a:t>
            </a:r>
            <a:br>
              <a:rPr lang="en-IN" sz="1400" dirty="0"/>
            </a:br>
            <a:r>
              <a:rPr lang="en-IN" sz="1400" dirty="0"/>
              <a:t>“risk owner assignment” → “oversight” or</a:t>
            </a:r>
            <a:br>
              <a:rPr lang="en-IN" sz="1400" dirty="0"/>
            </a:br>
            <a:r>
              <a:rPr lang="en-IN" sz="1400" dirty="0"/>
              <a:t>“15-min escalation” → “timely incident response.”</a:t>
            </a:r>
          </a:p>
          <a:p>
            <a:pPr marL="0" indent="0">
              <a:buNone/>
            </a:pPr>
            <a:r>
              <a:rPr lang="en-IN" sz="1400" b="1" dirty="0"/>
              <a:t>Core Limitation</a:t>
            </a:r>
            <a:br>
              <a:rPr lang="en-IN" sz="1400" dirty="0"/>
            </a:br>
            <a:r>
              <a:rPr lang="en-IN" sz="1400" dirty="0"/>
              <a:t>They operate in </a:t>
            </a:r>
            <a:r>
              <a:rPr lang="en-IN" sz="1400" b="1" dirty="0"/>
              <a:t>lexical space</a:t>
            </a:r>
            <a:r>
              <a:rPr lang="en-IN" sz="1400" dirty="0"/>
              <a:t>, not </a:t>
            </a:r>
            <a:r>
              <a:rPr lang="en-IN" sz="1400" b="1" dirty="0"/>
              <a:t>reasoning space</a:t>
            </a:r>
            <a:r>
              <a:rPr lang="en-IN" sz="1400" dirty="0"/>
              <a:t>. They can expand terms and match synonyms, but </a:t>
            </a:r>
            <a:r>
              <a:rPr lang="en-IN" sz="1400" b="1" dirty="0"/>
              <a:t>cannot bridge the abstraction gap</a:t>
            </a:r>
            <a:r>
              <a:rPr lang="en-IN" sz="1400" dirty="0"/>
              <a:t> between high-level regulatory intent and low-level control implementation.</a:t>
            </a:r>
          </a:p>
        </p:txBody>
      </p:sp>
    </p:spTree>
    <p:extLst>
      <p:ext uri="{BB962C8B-B14F-4D97-AF65-F5344CB8AC3E}">
        <p14:creationId xmlns:p14="http://schemas.microsoft.com/office/powerpoint/2010/main" val="5769332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9" name="Rectangle 5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1" name="Rectangle 6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9" name="Freeform: Shape 6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1" name="Rectangle 7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54CE73-934E-45E5-1A36-66F3A4BAC4D9}"/>
              </a:ext>
            </a:extLst>
          </p:cNvPr>
          <p:cNvSpPr>
            <a:spLocks noGrp="1"/>
          </p:cNvSpPr>
          <p:nvPr>
            <p:ph type="title"/>
          </p:nvPr>
        </p:nvSpPr>
        <p:spPr>
          <a:xfrm>
            <a:off x="466722" y="586855"/>
            <a:ext cx="3201366" cy="3387497"/>
          </a:xfrm>
        </p:spPr>
        <p:txBody>
          <a:bodyPr anchor="b">
            <a:normAutofit/>
          </a:bodyPr>
          <a:lstStyle/>
          <a:p>
            <a:pPr algn="r"/>
            <a:r>
              <a:rPr lang="en-IN" sz="4000" b="1">
                <a:solidFill>
                  <a:srgbClr val="FFFFFF"/>
                </a:solidFill>
              </a:rPr>
              <a:t>Hybrid Retrieval + RRF: Strong Retrieval, Still Insufficient</a:t>
            </a:r>
            <a:endParaRPr lang="en-US" sz="4000">
              <a:solidFill>
                <a:srgbClr val="FFFFFF"/>
              </a:solidFill>
            </a:endParaRPr>
          </a:p>
        </p:txBody>
      </p:sp>
      <p:sp>
        <p:nvSpPr>
          <p:cNvPr id="3" name="Content Placeholder 2">
            <a:extLst>
              <a:ext uri="{FF2B5EF4-FFF2-40B4-BE49-F238E27FC236}">
                <a16:creationId xmlns:a16="http://schemas.microsoft.com/office/drawing/2014/main" id="{F7370247-56BD-7AEF-DF9B-2C4FE202C0F3}"/>
              </a:ext>
            </a:extLst>
          </p:cNvPr>
          <p:cNvSpPr>
            <a:spLocks noGrp="1"/>
          </p:cNvSpPr>
          <p:nvPr>
            <p:ph idx="1"/>
          </p:nvPr>
        </p:nvSpPr>
        <p:spPr>
          <a:xfrm>
            <a:off x="4504548" y="511388"/>
            <a:ext cx="7220729" cy="5902859"/>
          </a:xfrm>
        </p:spPr>
        <p:txBody>
          <a:bodyPr anchor="ctr">
            <a:normAutofit/>
          </a:bodyPr>
          <a:lstStyle/>
          <a:p>
            <a:pPr marL="0" indent="0">
              <a:buNone/>
            </a:pPr>
            <a:r>
              <a:rPr lang="en-IN" sz="1400" dirty="0"/>
              <a:t>Since dense models alone weren’t capturing the signals we needed, and sparse models weren’t bridging the abstraction gap, the next logical step was to combine them.</a:t>
            </a:r>
          </a:p>
          <a:p>
            <a:pPr marL="0" indent="0">
              <a:buNone/>
            </a:pPr>
            <a:r>
              <a:rPr lang="en-IN" sz="1400" dirty="0"/>
              <a:t>Hybrid retrieval blends:</a:t>
            </a:r>
          </a:p>
          <a:p>
            <a:pPr lvl="1"/>
            <a:r>
              <a:rPr lang="en-IN" sz="1400" b="1" dirty="0"/>
              <a:t>Dense embeddings</a:t>
            </a:r>
            <a:r>
              <a:rPr lang="en-IN" sz="1400" dirty="0"/>
              <a:t> → capture general meaning and conceptual similarity</a:t>
            </a:r>
          </a:p>
          <a:p>
            <a:pPr lvl="1"/>
            <a:r>
              <a:rPr lang="en-IN" sz="1400" b="1" dirty="0"/>
              <a:t>Sparse models</a:t>
            </a:r>
            <a:r>
              <a:rPr lang="en-IN" sz="1400" dirty="0"/>
              <a:t> → capture keyword-level precision</a:t>
            </a:r>
          </a:p>
          <a:p>
            <a:pPr marL="0" indent="0">
              <a:buNone/>
            </a:pPr>
            <a:r>
              <a:rPr lang="en-IN" sz="1400" dirty="0"/>
              <a:t>This approach often gives the </a:t>
            </a:r>
            <a:r>
              <a:rPr lang="en-IN" sz="1400" i="1" dirty="0"/>
              <a:t>best of both worlds</a:t>
            </a:r>
            <a:r>
              <a:rPr lang="en-IN" sz="1400" dirty="0"/>
              <a:t>, especially in traditional search scenarios like: </a:t>
            </a:r>
            <a:r>
              <a:rPr lang="en-IN" sz="1400" i="1" dirty="0"/>
              <a:t>document search, FAQ retrieval, question answering, customer support automation, legal clause lookup.</a:t>
            </a:r>
          </a:p>
          <a:p>
            <a:pPr marL="0" indent="0">
              <a:buNone/>
            </a:pPr>
            <a:r>
              <a:rPr lang="en-IN" sz="1400" dirty="0"/>
              <a:t>In many of these domains, hybrid retrieval is the current best practice because dense and sparse signals complement each other’s weaknesses.</a:t>
            </a:r>
          </a:p>
          <a:p>
            <a:pPr marL="0" indent="0">
              <a:buNone/>
            </a:pPr>
            <a:r>
              <a:rPr lang="en-IN" sz="1400" b="1" dirty="0"/>
              <a:t>Why I Tried Hybrid Retrieval + RRF</a:t>
            </a:r>
          </a:p>
          <a:p>
            <a:pPr marL="0" indent="0">
              <a:buNone/>
            </a:pPr>
            <a:r>
              <a:rPr lang="en-IN" sz="1400" dirty="0"/>
              <a:t>My goal was to see whether combining different similarity signals could surface more potential candidates so that the LLM </a:t>
            </a:r>
            <a:r>
              <a:rPr lang="en-IN" sz="1400" dirty="0" err="1"/>
              <a:t>reranker</a:t>
            </a:r>
            <a:r>
              <a:rPr lang="en-IN" sz="1400" dirty="0"/>
              <a:t> could work on a richer pool. This is a standard approach in IR, and it often boosts both recall and precision.</a:t>
            </a:r>
          </a:p>
          <a:p>
            <a:pPr marL="0" indent="0">
              <a:buNone/>
            </a:pPr>
            <a:r>
              <a:rPr lang="en-IN" sz="1400" b="1" dirty="0"/>
              <a:t>What Worked (Where It Helped)</a:t>
            </a:r>
          </a:p>
          <a:p>
            <a:pPr lvl="1"/>
            <a:r>
              <a:rPr lang="en-IN" sz="1400" dirty="0"/>
              <a:t>The candidate pool became more diverse.</a:t>
            </a:r>
          </a:p>
          <a:p>
            <a:pPr lvl="1"/>
            <a:r>
              <a:rPr lang="en-IN" sz="1400" dirty="0"/>
              <a:t>Some requirements that dense retrieval alone missed were recovered through sparse signals.</a:t>
            </a:r>
          </a:p>
          <a:p>
            <a:pPr lvl="1"/>
            <a:r>
              <a:rPr lang="en-IN" sz="1400" dirty="0"/>
              <a:t>RRF stabilized the top-ranked candidates and avoided random fluctuations.</a:t>
            </a:r>
          </a:p>
          <a:p>
            <a:pPr lvl="1"/>
            <a:r>
              <a:rPr lang="en-IN" sz="1400" dirty="0"/>
              <a:t>It improved the overall retrieval quality for </a:t>
            </a:r>
            <a:r>
              <a:rPr lang="en-IN" sz="1400" dirty="0" err="1"/>
              <a:t>QnA</a:t>
            </a:r>
            <a:r>
              <a:rPr lang="en-IN" sz="1400" dirty="0"/>
              <a:t>-like tasks.</a:t>
            </a:r>
          </a:p>
          <a:p>
            <a:pPr lvl="1"/>
            <a:endParaRPr lang="en-IN" sz="1400" dirty="0"/>
          </a:p>
          <a:p>
            <a:pPr marL="457200" lvl="1" indent="0">
              <a:buNone/>
            </a:pPr>
            <a:r>
              <a:rPr lang="en-IN" sz="1400" dirty="0"/>
              <a:t>However, even the best hybrid retrieval still depends on </a:t>
            </a:r>
            <a:r>
              <a:rPr lang="en-IN" sz="1400" i="1" dirty="0"/>
              <a:t>some form</a:t>
            </a:r>
            <a:r>
              <a:rPr lang="en-IN" sz="1400" dirty="0"/>
              <a:t> of textual/semantic similarity.</a:t>
            </a:r>
          </a:p>
        </p:txBody>
      </p:sp>
    </p:spTree>
    <p:extLst>
      <p:ext uri="{BB962C8B-B14F-4D97-AF65-F5344CB8AC3E}">
        <p14:creationId xmlns:p14="http://schemas.microsoft.com/office/powerpoint/2010/main" val="36198832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EDDBB197-D710-4A4F-A9CA-FD2177498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975D1CFA-2CDB-4B64-BD9F-85744E8DA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1CE22B-1246-96B8-DAF1-8F228D7E0E47}"/>
              </a:ext>
            </a:extLst>
          </p:cNvPr>
          <p:cNvSpPr>
            <a:spLocks noGrp="1"/>
          </p:cNvSpPr>
          <p:nvPr>
            <p:ph type="title"/>
          </p:nvPr>
        </p:nvSpPr>
        <p:spPr>
          <a:xfrm>
            <a:off x="804672" y="802955"/>
            <a:ext cx="4977976" cy="1454051"/>
          </a:xfrm>
        </p:spPr>
        <p:txBody>
          <a:bodyPr vert="horz" lIns="91440" tIns="45720" rIns="91440" bIns="45720" rtlCol="0" anchor="ctr">
            <a:normAutofit/>
          </a:bodyPr>
          <a:lstStyle/>
          <a:p>
            <a:r>
              <a:rPr lang="en-US" sz="3300" kern="1200">
                <a:solidFill>
                  <a:schemeClr val="tx2"/>
                </a:solidFill>
                <a:latin typeface="+mj-lt"/>
                <a:ea typeface="+mj-ea"/>
                <a:cs typeface="+mj-cs"/>
              </a:rPr>
              <a:t>Why Retrieval (In Any Form) Will Always Underperform Here</a:t>
            </a:r>
          </a:p>
        </p:txBody>
      </p:sp>
      <p:sp>
        <p:nvSpPr>
          <p:cNvPr id="4" name="Content Placeholder 3">
            <a:extLst>
              <a:ext uri="{FF2B5EF4-FFF2-40B4-BE49-F238E27FC236}">
                <a16:creationId xmlns:a16="http://schemas.microsoft.com/office/drawing/2014/main" id="{C5409B5D-B072-4CB0-A8C7-B48C9D1A8A56}"/>
              </a:ext>
            </a:extLst>
          </p:cNvPr>
          <p:cNvSpPr>
            <a:spLocks noGrp="1"/>
          </p:cNvSpPr>
          <p:nvPr>
            <p:ph sz="half" idx="2"/>
          </p:nvPr>
        </p:nvSpPr>
        <p:spPr>
          <a:xfrm>
            <a:off x="804672" y="2314449"/>
            <a:ext cx="6229327" cy="4104123"/>
          </a:xfrm>
        </p:spPr>
        <p:txBody>
          <a:bodyPr vert="horz" lIns="91440" tIns="45720" rIns="91440" bIns="45720" rtlCol="0" anchor="ctr">
            <a:normAutofit/>
          </a:bodyPr>
          <a:lstStyle/>
          <a:p>
            <a:pPr marL="0"/>
            <a:r>
              <a:rPr lang="en-US" sz="1600" dirty="0">
                <a:solidFill>
                  <a:schemeClr val="tx2"/>
                </a:solidFill>
              </a:rPr>
              <a:t>This is the fundamental insight that emerged after building on the previous team’s work and trying multiple retrieval enhancements:</a:t>
            </a:r>
          </a:p>
          <a:p>
            <a:pPr marL="0"/>
            <a:r>
              <a:rPr lang="en-US" sz="1600" dirty="0">
                <a:solidFill>
                  <a:schemeClr val="tx2"/>
                </a:solidFill>
              </a:rPr>
              <a:t>Retrieval methods rely on textual and semantic similarity.</a:t>
            </a:r>
            <a:br>
              <a:rPr lang="en-US" sz="1600" dirty="0">
                <a:solidFill>
                  <a:schemeClr val="tx2"/>
                </a:solidFill>
              </a:rPr>
            </a:br>
            <a:r>
              <a:rPr lang="en-US" sz="1600" dirty="0">
                <a:solidFill>
                  <a:schemeClr val="tx2"/>
                </a:solidFill>
              </a:rPr>
              <a:t>But regulatory → requirement mapping requires </a:t>
            </a:r>
            <a:r>
              <a:rPr lang="en-US" sz="1600" b="1" dirty="0">
                <a:solidFill>
                  <a:schemeClr val="tx2"/>
                </a:solidFill>
              </a:rPr>
              <a:t>abductive reasoning</a:t>
            </a:r>
            <a:r>
              <a:rPr lang="en-US" sz="1600" dirty="0">
                <a:solidFill>
                  <a:schemeClr val="tx2"/>
                </a:solidFill>
              </a:rPr>
              <a:t>, </a:t>
            </a:r>
            <a:r>
              <a:rPr lang="en-US" sz="1600" b="1" dirty="0">
                <a:solidFill>
                  <a:schemeClr val="tx2"/>
                </a:solidFill>
              </a:rPr>
              <a:t>organizational context</a:t>
            </a:r>
            <a:r>
              <a:rPr lang="en-US" sz="1600" dirty="0">
                <a:solidFill>
                  <a:schemeClr val="tx2"/>
                </a:solidFill>
              </a:rPr>
              <a:t>, and </a:t>
            </a:r>
            <a:r>
              <a:rPr lang="en-US" sz="1600" b="1" dirty="0">
                <a:solidFill>
                  <a:schemeClr val="tx2"/>
                </a:solidFill>
              </a:rPr>
              <a:t>multi-hop inference</a:t>
            </a:r>
            <a:r>
              <a:rPr lang="en-US" sz="1600" dirty="0">
                <a:solidFill>
                  <a:schemeClr val="tx2"/>
                </a:solidFill>
              </a:rPr>
              <a:t>, such as:</a:t>
            </a:r>
          </a:p>
          <a:p>
            <a:pPr lvl="1"/>
            <a:r>
              <a:rPr lang="en-US" sz="1600" dirty="0">
                <a:solidFill>
                  <a:schemeClr val="tx2"/>
                </a:solidFill>
              </a:rPr>
              <a:t>“If the citation requires governance alignment…”</a:t>
            </a:r>
          </a:p>
          <a:p>
            <a:pPr lvl="1"/>
            <a:r>
              <a:rPr lang="en-US" sz="1600" dirty="0">
                <a:solidFill>
                  <a:schemeClr val="tx2"/>
                </a:solidFill>
              </a:rPr>
              <a:t>“…and governance alignment is typically achieved by assigning accountable owners…”</a:t>
            </a:r>
          </a:p>
          <a:p>
            <a:pPr lvl="1"/>
            <a:r>
              <a:rPr lang="en-US" sz="1600" dirty="0">
                <a:solidFill>
                  <a:schemeClr val="tx2"/>
                </a:solidFill>
              </a:rPr>
              <a:t>“…and requirement R-001 assigns risk owners…”</a:t>
            </a:r>
            <a:br>
              <a:rPr lang="en-US" sz="1600" dirty="0">
                <a:solidFill>
                  <a:schemeClr val="tx2"/>
                </a:solidFill>
              </a:rPr>
            </a:br>
            <a:r>
              <a:rPr lang="en-US" sz="1600" dirty="0">
                <a:solidFill>
                  <a:schemeClr val="tx2"/>
                </a:solidFill>
              </a:rPr>
              <a:t>→ therefore R-001 partially or fully satisfies the citation.</a:t>
            </a:r>
          </a:p>
          <a:p>
            <a:pPr marL="0"/>
            <a:r>
              <a:rPr lang="en-US" sz="1600" dirty="0">
                <a:solidFill>
                  <a:schemeClr val="tx2"/>
                </a:solidFill>
              </a:rPr>
              <a:t>This reasoning chain cannot be encoded into embeddings or sparse vectors. Retrieval can only “see” what is near in the language space; it cannot infer relationships that are implicit or conceptual.</a:t>
            </a:r>
          </a:p>
        </p:txBody>
      </p:sp>
      <p:grpSp>
        <p:nvGrpSpPr>
          <p:cNvPr id="24" name="Group 23">
            <a:extLst>
              <a:ext uri="{FF2B5EF4-FFF2-40B4-BE49-F238E27FC236}">
                <a16:creationId xmlns:a16="http://schemas.microsoft.com/office/drawing/2014/main" id="{25EE5136-01F1-466C-962D-BA9B4C6757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69897" y="0"/>
            <a:ext cx="5822103" cy="6685267"/>
            <a:chOff x="6357228" y="0"/>
            <a:chExt cx="5822103" cy="6685267"/>
          </a:xfrm>
        </p:grpSpPr>
        <p:sp>
          <p:nvSpPr>
            <p:cNvPr id="25" name="Freeform: Shape 24">
              <a:extLst>
                <a:ext uri="{FF2B5EF4-FFF2-40B4-BE49-F238E27FC236}">
                  <a16:creationId xmlns:a16="http://schemas.microsoft.com/office/drawing/2014/main" id="{E11D3AD4-AF9B-4EB5-8C7B-C45D173B4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15102EBE-A80F-4CFF-B1DD-941EF9728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EC18CE1F-9DF1-47AF-9E66-6CE348AC2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5BD26A8C-8D1D-41E6-A71E-FE9AC75F3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7" name="Graphic 16" descr="Research">
            <a:extLst>
              <a:ext uri="{FF2B5EF4-FFF2-40B4-BE49-F238E27FC236}">
                <a16:creationId xmlns:a16="http://schemas.microsoft.com/office/drawing/2014/main" id="{E5769A9D-05A1-590B-596F-D6452937C2D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21726" y="1629089"/>
            <a:ext cx="3620021" cy="3620021"/>
          </a:xfrm>
          <a:prstGeom prst="rect">
            <a:avLst/>
          </a:prstGeom>
        </p:spPr>
      </p:pic>
    </p:spTree>
    <p:extLst>
      <p:ext uri="{BB962C8B-B14F-4D97-AF65-F5344CB8AC3E}">
        <p14:creationId xmlns:p14="http://schemas.microsoft.com/office/powerpoint/2010/main" val="31466723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FA1EDE-1FEC-884B-DFDB-817E50B6A24A}"/>
              </a:ext>
            </a:extLst>
          </p:cNvPr>
          <p:cNvSpPr>
            <a:spLocks noGrp="1"/>
          </p:cNvSpPr>
          <p:nvPr>
            <p:ph type="ctrTitle"/>
          </p:nvPr>
        </p:nvSpPr>
        <p:spPr>
          <a:xfrm>
            <a:off x="1371599" y="294538"/>
            <a:ext cx="9895951" cy="1033669"/>
          </a:xfrm>
        </p:spPr>
        <p:txBody>
          <a:bodyPr vert="horz" lIns="91440" tIns="45720" rIns="91440" bIns="45720" rtlCol="0" anchor="ctr">
            <a:normAutofit/>
          </a:bodyPr>
          <a:lstStyle/>
          <a:p>
            <a:pPr algn="l"/>
            <a:r>
              <a:rPr lang="en-US" sz="3400" kern="1200">
                <a:solidFill>
                  <a:srgbClr val="FFFFFF"/>
                </a:solidFill>
                <a:latin typeface="+mj-lt"/>
                <a:ea typeface="+mj-ea"/>
                <a:cs typeface="+mj-cs"/>
              </a:rPr>
              <a:t>Proposed Direction: Full-Space, Domain-Specialist Agents</a:t>
            </a:r>
          </a:p>
        </p:txBody>
      </p:sp>
      <p:sp>
        <p:nvSpPr>
          <p:cNvPr id="3" name="Subtitle 2">
            <a:extLst>
              <a:ext uri="{FF2B5EF4-FFF2-40B4-BE49-F238E27FC236}">
                <a16:creationId xmlns:a16="http://schemas.microsoft.com/office/drawing/2014/main" id="{6BA2DD67-FDCA-61DA-39D9-5ABDF220F009}"/>
              </a:ext>
            </a:extLst>
          </p:cNvPr>
          <p:cNvSpPr>
            <a:spLocks noGrp="1"/>
          </p:cNvSpPr>
          <p:nvPr>
            <p:ph type="subTitle" idx="1"/>
          </p:nvPr>
        </p:nvSpPr>
        <p:spPr>
          <a:xfrm>
            <a:off x="1371599" y="2318197"/>
            <a:ext cx="9724031" cy="3683358"/>
          </a:xfrm>
        </p:spPr>
        <p:txBody>
          <a:bodyPr vert="horz" lIns="91440" tIns="45720" rIns="91440" bIns="45720" rtlCol="0" anchor="ctr">
            <a:normAutofit/>
          </a:bodyPr>
          <a:lstStyle/>
          <a:p>
            <a:pPr algn="l"/>
            <a:r>
              <a:rPr lang="en-US" sz="1900" dirty="0"/>
              <a:t>Given all the above, the next logical step is to shift from retrieval-driven filtering to </a:t>
            </a:r>
            <a:r>
              <a:rPr lang="en-US" sz="1900" b="1" dirty="0"/>
              <a:t>exhaustive reasoning</a:t>
            </a:r>
            <a:r>
              <a:rPr lang="en-US" sz="1900" dirty="0"/>
              <a:t> within each domain.</a:t>
            </a:r>
          </a:p>
          <a:p>
            <a:pPr algn="l"/>
            <a:r>
              <a:rPr lang="en-US" sz="1900" dirty="0"/>
              <a:t>The idea is:</a:t>
            </a:r>
          </a:p>
          <a:p>
            <a:pPr lvl="1" indent="-228600" algn="l">
              <a:buFont typeface="Arial" panose="020B0604020202020204" pitchFamily="34" charset="0"/>
              <a:buChar char="•"/>
            </a:pPr>
            <a:r>
              <a:rPr lang="en-US" sz="1500" dirty="0"/>
              <a:t>Build specialist agents (Risk, Access Control, Incident Response, etc.).</a:t>
            </a:r>
          </a:p>
          <a:p>
            <a:pPr lvl="1" indent="-228600" algn="l">
              <a:buFont typeface="Arial" panose="020B0604020202020204" pitchFamily="34" charset="0"/>
              <a:buChar char="•"/>
            </a:pPr>
            <a:r>
              <a:rPr lang="en-US" sz="1500" dirty="0"/>
              <a:t>Give each agent the </a:t>
            </a:r>
            <a:r>
              <a:rPr lang="en-US" sz="1500" i="1" dirty="0"/>
              <a:t>entire</a:t>
            </a:r>
            <a:r>
              <a:rPr lang="en-US" sz="1500" dirty="0"/>
              <a:t> set of requirements belonging to its domain (in batches).</a:t>
            </a:r>
          </a:p>
          <a:p>
            <a:pPr lvl="1" indent="-228600" algn="l">
              <a:buFont typeface="Arial" panose="020B0604020202020204" pitchFamily="34" charset="0"/>
              <a:buChar char="•"/>
            </a:pPr>
            <a:r>
              <a:rPr lang="en-US" sz="1500" dirty="0"/>
              <a:t>Let agents reason through each requirement logically.</a:t>
            </a:r>
          </a:p>
          <a:p>
            <a:pPr lvl="1" indent="-228600" algn="l">
              <a:buFont typeface="Arial" panose="020B0604020202020204" pitchFamily="34" charset="0"/>
              <a:buChar char="•"/>
            </a:pPr>
            <a:r>
              <a:rPr lang="en-US" sz="1500" dirty="0"/>
              <a:t>Use LLMs to perform controlled, stepwise evaluation, not similarity lookup.</a:t>
            </a:r>
          </a:p>
          <a:p>
            <a:pPr lvl="1" indent="-228600" algn="l">
              <a:buFont typeface="Arial" panose="020B0604020202020204" pitchFamily="34" charset="0"/>
              <a:buChar char="•"/>
            </a:pPr>
            <a:r>
              <a:rPr lang="en-US" sz="1500" dirty="0"/>
              <a:t>Parallelize agents to maintain throughput.</a:t>
            </a:r>
          </a:p>
          <a:p>
            <a:pPr lvl="1" indent="-228600" algn="l">
              <a:buFont typeface="Arial" panose="020B0604020202020204" pitchFamily="34" charset="0"/>
              <a:buChar char="•"/>
            </a:pPr>
            <a:r>
              <a:rPr lang="en-US" sz="1500" dirty="0"/>
              <a:t>This ensures </a:t>
            </a:r>
            <a:r>
              <a:rPr lang="en-US" sz="1500" b="1" dirty="0"/>
              <a:t>every requirement is evaluated</a:t>
            </a:r>
            <a:r>
              <a:rPr lang="en-US" sz="1500" dirty="0"/>
              <a:t>, not just the ones that appear semantically similar.</a:t>
            </a:r>
          </a:p>
          <a:p>
            <a:pPr indent="-228600" algn="l">
              <a:buFont typeface="Arial" panose="020B0604020202020204" pitchFamily="34" charset="0"/>
              <a:buChar char="•"/>
            </a:pPr>
            <a:endParaRPr lang="en-US" sz="1900" dirty="0"/>
          </a:p>
        </p:txBody>
      </p:sp>
    </p:spTree>
    <p:extLst>
      <p:ext uri="{BB962C8B-B14F-4D97-AF65-F5344CB8AC3E}">
        <p14:creationId xmlns:p14="http://schemas.microsoft.com/office/powerpoint/2010/main" val="25913757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56A852-F2C9-6073-135A-438378ADD463}"/>
              </a:ext>
            </a:extLst>
          </p:cNvPr>
          <p:cNvSpPr>
            <a:spLocks noGrp="1"/>
          </p:cNvSpPr>
          <p:nvPr>
            <p:ph type="title"/>
          </p:nvPr>
        </p:nvSpPr>
        <p:spPr>
          <a:xfrm>
            <a:off x="466722" y="586855"/>
            <a:ext cx="3201366" cy="3387497"/>
          </a:xfrm>
        </p:spPr>
        <p:txBody>
          <a:bodyPr anchor="b">
            <a:normAutofit/>
          </a:bodyPr>
          <a:lstStyle/>
          <a:p>
            <a:pPr algn="r"/>
            <a:r>
              <a:rPr lang="en-IN" sz="4000" b="1">
                <a:solidFill>
                  <a:srgbClr val="FFFFFF"/>
                </a:solidFill>
              </a:rPr>
              <a:t>Why “Brute Force” Is Acceptable (And Even Preferred)</a:t>
            </a:r>
            <a:endParaRPr lang="en-US" sz="4000">
              <a:solidFill>
                <a:srgbClr val="FFFFFF"/>
              </a:solidFill>
            </a:endParaRPr>
          </a:p>
        </p:txBody>
      </p:sp>
      <p:sp>
        <p:nvSpPr>
          <p:cNvPr id="30" name="Content Placeholder 2">
            <a:extLst>
              <a:ext uri="{FF2B5EF4-FFF2-40B4-BE49-F238E27FC236}">
                <a16:creationId xmlns:a16="http://schemas.microsoft.com/office/drawing/2014/main" id="{977751CD-30C4-8A99-784F-E4A4E03A8D77}"/>
              </a:ext>
            </a:extLst>
          </p:cNvPr>
          <p:cNvSpPr>
            <a:spLocks noGrp="1"/>
          </p:cNvSpPr>
          <p:nvPr>
            <p:ph idx="1"/>
          </p:nvPr>
        </p:nvSpPr>
        <p:spPr>
          <a:xfrm>
            <a:off x="4810259" y="649480"/>
            <a:ext cx="6555347" cy="5546047"/>
          </a:xfrm>
        </p:spPr>
        <p:txBody>
          <a:bodyPr anchor="ctr">
            <a:normAutofit/>
          </a:bodyPr>
          <a:lstStyle/>
          <a:p>
            <a:pPr marL="0" indent="0">
              <a:buNone/>
            </a:pPr>
            <a:r>
              <a:rPr lang="en-IN" sz="1700" dirty="0"/>
              <a:t>Even though this approach is more computationally intensive, it has major advantages:</a:t>
            </a:r>
          </a:p>
          <a:p>
            <a:pPr>
              <a:lnSpc>
                <a:spcPct val="100000"/>
              </a:lnSpc>
              <a:spcBef>
                <a:spcPts val="600"/>
              </a:spcBef>
            </a:pPr>
            <a:r>
              <a:rPr lang="en-IN" sz="1700" i="1" dirty="0">
                <a:solidFill>
                  <a:schemeClr val="tx2">
                    <a:lumMod val="75000"/>
                    <a:lumOff val="25000"/>
                  </a:schemeClr>
                </a:solidFill>
                <a:latin typeface="Calibri" panose="020F0502020204030204" pitchFamily="34" charset="0"/>
                <a:cs typeface="Calibri" panose="020F0502020204030204" pitchFamily="34" charset="0"/>
              </a:rPr>
              <a:t>The business prefers accuracy and completeness over raw speed.</a:t>
            </a:r>
          </a:p>
          <a:p>
            <a:pPr>
              <a:lnSpc>
                <a:spcPct val="100000"/>
              </a:lnSpc>
              <a:spcBef>
                <a:spcPts val="600"/>
              </a:spcBef>
            </a:pPr>
            <a:r>
              <a:rPr lang="en-IN" sz="1700" i="1" dirty="0">
                <a:solidFill>
                  <a:schemeClr val="tx2">
                    <a:lumMod val="75000"/>
                    <a:lumOff val="25000"/>
                  </a:schemeClr>
                </a:solidFill>
                <a:latin typeface="Calibri" panose="020F0502020204030204" pitchFamily="34" charset="0"/>
                <a:cs typeface="Calibri" panose="020F0502020204030204" pitchFamily="34" charset="0"/>
              </a:rPr>
              <a:t>Compliance work is high-stakes; missing one requirement is worse than taking longer.</a:t>
            </a:r>
          </a:p>
          <a:p>
            <a:pPr>
              <a:lnSpc>
                <a:spcPct val="100000"/>
              </a:lnSpc>
              <a:spcBef>
                <a:spcPts val="600"/>
              </a:spcBef>
            </a:pPr>
            <a:r>
              <a:rPr lang="en-IN" sz="1700" i="1" dirty="0">
                <a:solidFill>
                  <a:schemeClr val="tx2">
                    <a:lumMod val="75000"/>
                    <a:lumOff val="25000"/>
                  </a:schemeClr>
                </a:solidFill>
                <a:latin typeface="Calibri" panose="020F0502020204030204" pitchFamily="34" charset="0"/>
                <a:cs typeface="Calibri" panose="020F0502020204030204" pitchFamily="34" charset="0"/>
              </a:rPr>
              <a:t>We get full auditability: every requirement was reviewed.</a:t>
            </a:r>
          </a:p>
          <a:p>
            <a:pPr>
              <a:lnSpc>
                <a:spcPct val="100000"/>
              </a:lnSpc>
              <a:spcBef>
                <a:spcPts val="600"/>
              </a:spcBef>
            </a:pPr>
            <a:r>
              <a:rPr lang="en-IN" sz="1700" i="1" dirty="0">
                <a:solidFill>
                  <a:schemeClr val="tx2">
                    <a:lumMod val="75000"/>
                    <a:lumOff val="25000"/>
                  </a:schemeClr>
                </a:solidFill>
                <a:latin typeface="Calibri" panose="020F0502020204030204" pitchFamily="34" charset="0"/>
                <a:cs typeface="Calibri" panose="020F0502020204030204" pitchFamily="34" charset="0"/>
              </a:rPr>
              <a:t>Eventually, optimizations (caching, heuristics, smaller models) can reduce latency while maintaining coverage.</a:t>
            </a:r>
          </a:p>
          <a:p>
            <a:pPr marL="0" indent="0">
              <a:lnSpc>
                <a:spcPct val="150000"/>
              </a:lnSpc>
              <a:buNone/>
            </a:pPr>
            <a:r>
              <a:rPr lang="en-IN" sz="1700" dirty="0"/>
              <a:t>Orchestration &amp; Concurrency	 to keep throughput manageable:</a:t>
            </a:r>
          </a:p>
          <a:p>
            <a:pPr>
              <a:spcBef>
                <a:spcPts val="600"/>
              </a:spcBef>
            </a:pPr>
            <a:r>
              <a:rPr lang="en-IN" sz="1700" i="1" dirty="0">
                <a:solidFill>
                  <a:schemeClr val="tx2">
                    <a:lumMod val="75000"/>
                    <a:lumOff val="25000"/>
                  </a:schemeClr>
                </a:solidFill>
                <a:latin typeface="Calibri" panose="020F0502020204030204" pitchFamily="34" charset="0"/>
                <a:cs typeface="Calibri" panose="020F0502020204030204" pitchFamily="34" charset="0"/>
              </a:rPr>
              <a:t>Batch requirements (e.g., 50–200 per batch).</a:t>
            </a:r>
          </a:p>
          <a:p>
            <a:pPr>
              <a:spcBef>
                <a:spcPts val="600"/>
              </a:spcBef>
            </a:pPr>
            <a:r>
              <a:rPr lang="en-IN" sz="1700" i="1" dirty="0">
                <a:solidFill>
                  <a:schemeClr val="tx2">
                    <a:lumMod val="75000"/>
                    <a:lumOff val="25000"/>
                  </a:schemeClr>
                </a:solidFill>
                <a:latin typeface="Calibri" panose="020F0502020204030204" pitchFamily="34" charset="0"/>
                <a:cs typeface="Calibri" panose="020F0502020204030204" pitchFamily="34" charset="0"/>
              </a:rPr>
              <a:t>Run multiple specialist agents in parallel.</a:t>
            </a:r>
          </a:p>
          <a:p>
            <a:pPr>
              <a:spcBef>
                <a:spcPts val="600"/>
              </a:spcBef>
            </a:pPr>
            <a:r>
              <a:rPr lang="en-IN" sz="1700" i="1" dirty="0">
                <a:solidFill>
                  <a:schemeClr val="tx2">
                    <a:lumMod val="75000"/>
                    <a:lumOff val="25000"/>
                  </a:schemeClr>
                </a:solidFill>
                <a:latin typeface="Calibri" panose="020F0502020204030204" pitchFamily="34" charset="0"/>
                <a:cs typeface="Calibri" panose="020F0502020204030204" pitchFamily="34" charset="0"/>
              </a:rPr>
              <a:t>Use rate limiting and checkpoints to prevent runaway cost.</a:t>
            </a:r>
          </a:p>
          <a:p>
            <a:pPr>
              <a:spcBef>
                <a:spcPts val="600"/>
              </a:spcBef>
            </a:pPr>
            <a:r>
              <a:rPr lang="en-IN" sz="1700" i="1" dirty="0">
                <a:solidFill>
                  <a:schemeClr val="tx2">
                    <a:lumMod val="75000"/>
                    <a:lumOff val="25000"/>
                  </a:schemeClr>
                </a:solidFill>
                <a:latin typeface="Calibri" panose="020F0502020204030204" pitchFamily="34" charset="0"/>
                <a:cs typeface="Calibri" panose="020F0502020204030204" pitchFamily="34" charset="0"/>
              </a:rPr>
              <a:t>Cache previous evaluations to avoid redundant work.</a:t>
            </a:r>
          </a:p>
          <a:p>
            <a:pPr>
              <a:spcBef>
                <a:spcPts val="600"/>
              </a:spcBef>
            </a:pPr>
            <a:r>
              <a:rPr lang="en-IN" sz="1700" i="1" dirty="0">
                <a:solidFill>
                  <a:schemeClr val="tx2">
                    <a:lumMod val="75000"/>
                    <a:lumOff val="25000"/>
                  </a:schemeClr>
                </a:solidFill>
                <a:latin typeface="Calibri" panose="020F0502020204030204" pitchFamily="34" charset="0"/>
                <a:cs typeface="Calibri" panose="020F0502020204030204" pitchFamily="34" charset="0"/>
              </a:rPr>
              <a:t>Concurrency allows us to evaluate large requirement sets without sacrificing completeness.</a:t>
            </a:r>
          </a:p>
          <a:p>
            <a:pPr marL="0" indent="0">
              <a:buNone/>
            </a:pPr>
            <a:endParaRPr lang="en-US" sz="1700" dirty="0"/>
          </a:p>
        </p:txBody>
      </p:sp>
    </p:spTree>
    <p:extLst>
      <p:ext uri="{BB962C8B-B14F-4D97-AF65-F5344CB8AC3E}">
        <p14:creationId xmlns:p14="http://schemas.microsoft.com/office/powerpoint/2010/main" val="12897376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 name="Rectangle 42">
            <a:extLst>
              <a:ext uri="{FF2B5EF4-FFF2-40B4-BE49-F238E27FC236}">
                <a16:creationId xmlns:a16="http://schemas.microsoft.com/office/drawing/2014/main" id="{B34F5AD2-EDBD-4BBD-A55C-EAFFD0C709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0383" y="0"/>
            <a:ext cx="8451607" cy="6858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C3896A03-3945-419A-B66B-4EE266EDD1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0"/>
            <a:ext cx="3745177" cy="6858001"/>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8B885C-2816-5458-1646-61CBB0997080}"/>
              </a:ext>
            </a:extLst>
          </p:cNvPr>
          <p:cNvSpPr>
            <a:spLocks noGrp="1"/>
          </p:cNvSpPr>
          <p:nvPr>
            <p:ph type="title"/>
          </p:nvPr>
        </p:nvSpPr>
        <p:spPr>
          <a:xfrm>
            <a:off x="1156852" y="637762"/>
            <a:ext cx="2190782" cy="5576770"/>
          </a:xfrm>
        </p:spPr>
        <p:txBody>
          <a:bodyPr anchor="t">
            <a:normAutofit/>
          </a:bodyPr>
          <a:lstStyle/>
          <a:p>
            <a:r>
              <a:rPr lang="en-IN" sz="3300">
                <a:solidFill>
                  <a:schemeClr val="bg1"/>
                </a:solidFill>
              </a:rPr>
              <a:t>Conclusion</a:t>
            </a:r>
            <a:endParaRPr lang="en-US" sz="3300">
              <a:solidFill>
                <a:schemeClr val="bg1"/>
              </a:solidFill>
            </a:endParaRPr>
          </a:p>
        </p:txBody>
      </p:sp>
      <p:sp>
        <p:nvSpPr>
          <p:cNvPr id="45" name="Rectangle 44">
            <a:extLst>
              <a:ext uri="{FF2B5EF4-FFF2-40B4-BE49-F238E27FC236}">
                <a16:creationId xmlns:a16="http://schemas.microsoft.com/office/drawing/2014/main" id="{B8EAE243-3A9F-4A46-B0D9-04C723A8A1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733" y="643465"/>
            <a:ext cx="457200" cy="457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ntent Placeholder 2">
            <a:extLst>
              <a:ext uri="{FF2B5EF4-FFF2-40B4-BE49-F238E27FC236}">
                <a16:creationId xmlns:a16="http://schemas.microsoft.com/office/drawing/2014/main" id="{3E969FBC-0151-D4B4-2068-9D41B0D85C5F}"/>
              </a:ext>
            </a:extLst>
          </p:cNvPr>
          <p:cNvSpPr>
            <a:spLocks noGrp="1"/>
          </p:cNvSpPr>
          <p:nvPr>
            <p:ph idx="1"/>
          </p:nvPr>
        </p:nvSpPr>
        <p:spPr>
          <a:xfrm>
            <a:off x="4654732" y="850052"/>
            <a:ext cx="6390623" cy="5326911"/>
          </a:xfrm>
        </p:spPr>
        <p:txBody>
          <a:bodyPr>
            <a:normAutofit/>
          </a:bodyPr>
          <a:lstStyle/>
          <a:p>
            <a:pPr marL="0" indent="0">
              <a:buNone/>
            </a:pPr>
            <a:r>
              <a:rPr lang="en-IN" sz="1000"/>
              <a:t>Based on everything explored so far — dense embeddings, sparse neural retrieval, hybrid models, RRF-based fusion, advanced reranking, and the earlier RAG experiments done by the team — the conclusion I’ve reached is not just an empirical one, but a conceptual one as well.</a:t>
            </a:r>
          </a:p>
          <a:p>
            <a:pPr marL="0" indent="0">
              <a:buNone/>
            </a:pPr>
            <a:r>
              <a:rPr lang="en-IN" sz="1000"/>
              <a:t>Even if we continue improving retrieval, the nature of this specific problem places an inherent ceiling on what retrieval-based approaches can achieve. The issue isn’t only a matter of “better embeddings” or “better ranking.” It is rooted in how the two sides of the mapping problem are structured:</a:t>
            </a:r>
          </a:p>
          <a:p>
            <a:pPr lvl="1"/>
            <a:r>
              <a:rPr lang="en-IN" sz="1000"/>
              <a:t>regulatory citations express </a:t>
            </a:r>
            <a:r>
              <a:rPr lang="en-IN" sz="1000" b="1"/>
              <a:t>intent at a very high level</a:t>
            </a:r>
            <a:r>
              <a:rPr lang="en-IN" sz="1000"/>
              <a:t>,</a:t>
            </a:r>
          </a:p>
          <a:p>
            <a:pPr lvl="1"/>
            <a:r>
              <a:rPr lang="en-IN" sz="1000"/>
              <a:t>internal requirements express </a:t>
            </a:r>
            <a:r>
              <a:rPr lang="en-IN" sz="1000" b="1"/>
              <a:t>mechanisms at a very operational level</a:t>
            </a:r>
            <a:r>
              <a:rPr lang="en-IN" sz="1000"/>
              <a:t>,</a:t>
            </a:r>
            <a:br>
              <a:rPr lang="en-IN" sz="1000"/>
            </a:br>
            <a:r>
              <a:rPr lang="en-IN" sz="1000"/>
              <a:t>and the relationship between the two is often </a:t>
            </a:r>
            <a:r>
              <a:rPr lang="en-IN" sz="1000" b="1"/>
              <a:t>implicit, multi-hop, and organizational</a:t>
            </a:r>
            <a:r>
              <a:rPr lang="en-IN" sz="1000"/>
              <a:t>, not textual or semantic.</a:t>
            </a:r>
          </a:p>
          <a:p>
            <a:pPr marL="0" indent="0">
              <a:buNone/>
            </a:pPr>
            <a:r>
              <a:rPr lang="en-IN" sz="1000"/>
              <a:t>Because of this abstraction gap, a retrieval-first approach — no matter how advanced — will always focus on </a:t>
            </a:r>
            <a:r>
              <a:rPr lang="en-IN" sz="1000" i="1"/>
              <a:t>similarity</a:t>
            </a:r>
            <a:r>
              <a:rPr lang="en-IN" sz="1000"/>
              <a:t>, while the task requires </a:t>
            </a:r>
            <a:r>
              <a:rPr lang="en-IN" sz="1000" i="1"/>
              <a:t>reasoning</a:t>
            </a:r>
            <a:r>
              <a:rPr lang="en-IN" sz="1000"/>
              <a:t>. Retrieval cannot reliably detect mappings that only exist after interpreting intent, understanding internal processes, and connecting multiple controls together.</a:t>
            </a:r>
          </a:p>
          <a:p>
            <a:pPr marL="0" indent="0">
              <a:buNone/>
            </a:pPr>
            <a:r>
              <a:rPr lang="en-IN" sz="1000"/>
              <a:t>After trying multiple retrieval architectures, and seeing where each of them hit similar limitations, the broader conclusion becomes clear:</a:t>
            </a:r>
            <a:br>
              <a:rPr lang="en-IN" sz="1000"/>
            </a:br>
            <a:r>
              <a:rPr lang="en-IN" sz="1000" b="1"/>
              <a:t>RAG (or any retrieval-centric pipeline) is not a suitable core solution for this use case.</a:t>
            </a:r>
            <a:br>
              <a:rPr lang="en-IN" sz="1000"/>
            </a:br>
            <a:r>
              <a:rPr lang="en-IN" sz="1000"/>
              <a:t>This is true both from the theoretical standpoint (the task is not similarity-grounded) and from practical experiments (recall/precision issues consistently surfaced).</a:t>
            </a:r>
          </a:p>
          <a:p>
            <a:pPr marL="0" indent="0">
              <a:buNone/>
            </a:pPr>
            <a:r>
              <a:rPr lang="en-IN" sz="1000"/>
              <a:t>Given the nature of the use case, the most consistent way to reduce false negatives — which are often more costly than time or compute — is to expand the search scope instead of restricting it. In other words: “We need to let the llm models reason and evaluate </a:t>
            </a:r>
            <a:r>
              <a:rPr lang="en-IN" sz="1000" i="1"/>
              <a:t>more requirements</a:t>
            </a:r>
            <a:r>
              <a:rPr lang="en-IN" sz="1000"/>
              <a:t>, not less.”</a:t>
            </a:r>
          </a:p>
          <a:p>
            <a:pPr marL="0" indent="0">
              <a:buNone/>
            </a:pPr>
            <a:r>
              <a:rPr lang="en-IN" sz="1000"/>
              <a:t>This leads naturally to an agentic, full-space, domain-specialist approach where LLMs are allowed to systematically examine larger portions of the requirement corpus and perform structured reasoning rather than rely solely on retrieval filtering.</a:t>
            </a:r>
          </a:p>
          <a:p>
            <a:pPr marL="0" indent="0">
              <a:buNone/>
            </a:pPr>
            <a:r>
              <a:rPr lang="en-IN" sz="1000"/>
              <a:t>This approach may evolve and be optimized over time — with batching, concurrency, caching, and heuristic shortcuts — but directionally it addresses the key challenge:</a:t>
            </a:r>
            <a:br>
              <a:rPr lang="en-IN" sz="1000"/>
            </a:br>
            <a:r>
              <a:rPr lang="en-IN" sz="1000" b="1"/>
              <a:t>exhaustive evaluation is fundamentally more aligned with the risk and accuracy expectations of compliance work than similarity-based retrieval.</a:t>
            </a:r>
            <a:endParaRPr lang="en-IN" sz="1000"/>
          </a:p>
          <a:p>
            <a:endParaRPr lang="en-US" sz="1000"/>
          </a:p>
        </p:txBody>
      </p:sp>
    </p:spTree>
    <p:extLst>
      <p:ext uri="{BB962C8B-B14F-4D97-AF65-F5344CB8AC3E}">
        <p14:creationId xmlns:p14="http://schemas.microsoft.com/office/powerpoint/2010/main" val="6888064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2320</Words>
  <Application>Microsoft Macintosh PowerPoint</Application>
  <PresentationFormat>Widescreen</PresentationFormat>
  <Paragraphs>121</Paragraphs>
  <Slides>14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Aptos Display</vt:lpstr>
      <vt:lpstr>Arial</vt:lpstr>
      <vt:lpstr>Calibri</vt:lpstr>
      <vt:lpstr>Office Theme</vt:lpstr>
      <vt:lpstr>Automating Regulatory → Internal Requirement Mapping</vt:lpstr>
      <vt:lpstr>Executive Summary</vt:lpstr>
      <vt:lpstr>The Core Problem</vt:lpstr>
      <vt:lpstr>Example 1: </vt:lpstr>
      <vt:lpstr>Example 2: </vt:lpstr>
      <vt:lpstr>What we have Built so far (and What I Learned From It)</vt:lpstr>
      <vt:lpstr>Retrieval Techniques I Explored (High-Level Overview)</vt:lpstr>
      <vt:lpstr>Dense Embedding Retrieval: Why It Fell Short</vt:lpstr>
      <vt:lpstr>Sparse Neural Retrieval: What It Adds and Why It Still Misses</vt:lpstr>
      <vt:lpstr>Hybrid Retrieval + RRF: Strong Retrieval, Still Insufficient</vt:lpstr>
      <vt:lpstr>Why Retrieval (In Any Form) Will Always Underperform Here</vt:lpstr>
      <vt:lpstr>Proposed Direction: Full-Space, Domain-Specialist Agents</vt:lpstr>
      <vt:lpstr>Why “Brute Force” Is Acceptable (And Even Preferred)</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Balaji Sivanantham</dc:creator>
  <cp:lastModifiedBy>Balaji Sivanantham</cp:lastModifiedBy>
  <cp:revision>1</cp:revision>
  <dcterms:created xsi:type="dcterms:W3CDTF">2025-11-18T02:17:32Z</dcterms:created>
  <dcterms:modified xsi:type="dcterms:W3CDTF">2025-11-18T04:06:14Z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463cba9-5f6c-478d-9329-7b2295e4e8ed_Enabled">
    <vt:lpwstr>true</vt:lpwstr>
  </property>
  <property fmtid="{D5CDD505-2E9C-101B-9397-08002B2CF9AE}" pid="3" name="MSIP_Label_e463cba9-5f6c-478d-9329-7b2295e4e8ed_SetDate">
    <vt:lpwstr>2025-11-18T04:06:13Z</vt:lpwstr>
  </property>
  <property fmtid="{D5CDD505-2E9C-101B-9397-08002B2CF9AE}" pid="4" name="MSIP_Label_e463cba9-5f6c-478d-9329-7b2295e4e8ed_Method">
    <vt:lpwstr>Standard</vt:lpwstr>
  </property>
  <property fmtid="{D5CDD505-2E9C-101B-9397-08002B2CF9AE}" pid="5" name="MSIP_Label_e463cba9-5f6c-478d-9329-7b2295e4e8ed_Name">
    <vt:lpwstr>All Employees_2</vt:lpwstr>
  </property>
  <property fmtid="{D5CDD505-2E9C-101B-9397-08002B2CF9AE}" pid="6" name="MSIP_Label_e463cba9-5f6c-478d-9329-7b2295e4e8ed_SiteId">
    <vt:lpwstr>33440fc6-b7c7-412c-bb73-0e70b0198d5a</vt:lpwstr>
  </property>
  <property fmtid="{D5CDD505-2E9C-101B-9397-08002B2CF9AE}" pid="7" name="MSIP_Label_e463cba9-5f6c-478d-9329-7b2295e4e8ed_ActionId">
    <vt:lpwstr>e07e6f8a-649c-4eab-893a-7969bc0fc205</vt:lpwstr>
  </property>
  <property fmtid="{D5CDD505-2E9C-101B-9397-08002B2CF9AE}" pid="8" name="MSIP_Label_e463cba9-5f6c-478d-9329-7b2295e4e8ed_ContentBits">
    <vt:lpwstr>0</vt:lpwstr>
  </property>
  <property fmtid="{D5CDD505-2E9C-101B-9397-08002B2CF9AE}" pid="9" name="MSIP_Label_e463cba9-5f6c-478d-9329-7b2295e4e8ed_Tag">
    <vt:lpwstr>50, 3, 0, 1</vt:lpwstr>
  </property>
</Properties>
</file>